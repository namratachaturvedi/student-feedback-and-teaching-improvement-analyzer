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57" r:id="rId3"/>
    <p:sldId id="258" r:id="rId4"/>
    <p:sldId id="259" r:id="rId5"/>
    <p:sldId id="260" r:id="rId6"/>
    <p:sldId id="261" r:id="rId7"/>
    <p:sldId id="269" r:id="rId8"/>
    <p:sldId id="264" r:id="rId9"/>
    <p:sldId id="270" r:id="rId10"/>
    <p:sldId id="271" r:id="rId11"/>
    <p:sldId id="265" r:id="rId12"/>
    <p:sldId id="266" r:id="rId13"/>
  </p:sldIdLst>
  <p:sldSz cx="9144000" cy="5143500" type="screen16x9"/>
  <p:notesSz cx="5143500" cy="9144000"/>
  <p:custDataLst>
    <p:tags r:id="rId15"/>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168"/>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en-IN" sz="1800" b="1" u="none" strike="noStrike">
                <a:solidFill>
                  <a:srgbClr val="000000"/>
                </a:solidFill>
                <a:uFillTx/>
                <a:latin typeface="Calibri"/>
              </a:rPr>
              <a:t>Feedback Score Distribution</a:t>
            </a:r>
          </a:p>
        </c:rich>
      </c:tx>
      <c:overlay val="0"/>
      <c:spPr>
        <a:noFill/>
        <a:ln w="0">
          <a:noFill/>
        </a:ln>
      </c:spPr>
    </c:title>
    <c:autoTitleDeleted val="0"/>
    <c:plotArea>
      <c:layout/>
      <c:pieChart>
        <c:varyColors val="1"/>
        <c:ser>
          <c:idx val="0"/>
          <c:order val="0"/>
          <c:tx>
            <c:strRef>
              <c:f>Chart_Data!$B$3</c:f>
              <c:strCache>
                <c:ptCount val="1"/>
                <c:pt idx="0">
                  <c:v>Faculty Count</c:v>
                </c:pt>
              </c:strCache>
            </c:strRef>
          </c:tx>
          <c:spPr>
            <a:solidFill>
              <a:srgbClr val="4F81BD"/>
            </a:solidFill>
            <a:ln w="9360">
              <a:solidFill>
                <a:srgbClr val="F9F9F9"/>
              </a:solidFill>
              <a:round/>
            </a:ln>
          </c:spPr>
          <c:dPt>
            <c:idx val="0"/>
            <c:bubble3D val="0"/>
            <c:extLst>
              <c:ext xmlns:c16="http://schemas.microsoft.com/office/drawing/2014/chart" uri="{C3380CC4-5D6E-409C-BE32-E72D297353CC}">
                <c16:uniqueId val="{00000000-3701-4289-A970-F5E458F43000}"/>
              </c:ext>
            </c:extLst>
          </c:dPt>
          <c:dPt>
            <c:idx val="1"/>
            <c:bubble3D val="0"/>
            <c:spPr>
              <a:solidFill>
                <a:srgbClr val="C0504D"/>
              </a:solidFill>
              <a:ln w="9360">
                <a:solidFill>
                  <a:srgbClr val="F9F9F9"/>
                </a:solidFill>
                <a:round/>
              </a:ln>
            </c:spPr>
            <c:extLst>
              <c:ext xmlns:c16="http://schemas.microsoft.com/office/drawing/2014/chart" uri="{C3380CC4-5D6E-409C-BE32-E72D297353CC}">
                <c16:uniqueId val="{00000002-3701-4289-A970-F5E458F43000}"/>
              </c:ext>
            </c:extLst>
          </c:dPt>
          <c:dPt>
            <c:idx val="2"/>
            <c:bubble3D val="0"/>
            <c:spPr>
              <a:solidFill>
                <a:srgbClr val="9BBB59"/>
              </a:solidFill>
              <a:ln w="9360">
                <a:solidFill>
                  <a:srgbClr val="F9F9F9"/>
                </a:solidFill>
                <a:round/>
              </a:ln>
            </c:spPr>
            <c:extLst>
              <c:ext xmlns:c16="http://schemas.microsoft.com/office/drawing/2014/chart" uri="{C3380CC4-5D6E-409C-BE32-E72D297353CC}">
                <c16:uniqueId val="{00000004-3701-4289-A970-F5E458F43000}"/>
              </c:ext>
            </c:extLst>
          </c:dPt>
          <c:dPt>
            <c:idx val="3"/>
            <c:bubble3D val="0"/>
            <c:spPr>
              <a:solidFill>
                <a:srgbClr val="8064A2"/>
              </a:solidFill>
              <a:ln w="9360">
                <a:solidFill>
                  <a:srgbClr val="F9F9F9"/>
                </a:solidFill>
                <a:round/>
              </a:ln>
            </c:spPr>
            <c:extLst>
              <c:ext xmlns:c16="http://schemas.microsoft.com/office/drawing/2014/chart" uri="{C3380CC4-5D6E-409C-BE32-E72D297353CC}">
                <c16:uniqueId val="{00000006-3701-4289-A970-F5E458F43000}"/>
              </c:ext>
            </c:extLst>
          </c:dPt>
          <c:dLbls>
            <c:dLbl>
              <c:idx val="0"/>
              <c:spPr/>
              <c:txPr>
                <a:bodyPr wrap="square"/>
                <a:lstStyle/>
                <a:p>
                  <a:pPr>
                    <a:defRPr sz="1000" b="0" u="none" strike="noStrike">
                      <a:solidFill>
                        <a:srgbClr val="000000"/>
                      </a:solidFill>
                      <a:uFillTx/>
                      <a:latin typeface="Calibri"/>
                    </a:defRPr>
                  </a:pPr>
                  <a:endParaRPr lang="en-US"/>
                </a:p>
              </c:txPr>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3701-4289-A970-F5E458F43000}"/>
                </c:ext>
              </c:extLst>
            </c:dLbl>
            <c:dLbl>
              <c:idx val="1"/>
              <c:spPr/>
              <c:txPr>
                <a:bodyPr wrap="square"/>
                <a:lstStyle/>
                <a:p>
                  <a:pPr>
                    <a:defRPr sz="1000" b="0" u="none" strike="noStrike">
                      <a:solidFill>
                        <a:srgbClr val="000000"/>
                      </a:solidFill>
                      <a:uFillTx/>
                      <a:latin typeface="Calibri"/>
                    </a:defRPr>
                  </a:pPr>
                  <a:endParaRPr lang="en-US"/>
                </a:p>
              </c:txPr>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3701-4289-A970-F5E458F43000}"/>
                </c:ext>
              </c:extLst>
            </c:dLbl>
            <c:dLbl>
              <c:idx val="2"/>
              <c:spPr/>
              <c:txPr>
                <a:bodyPr wrap="square"/>
                <a:lstStyle/>
                <a:p>
                  <a:pPr>
                    <a:defRPr sz="1000" b="0" u="none" strike="noStrike">
                      <a:solidFill>
                        <a:srgbClr val="000000"/>
                      </a:solidFill>
                      <a:uFillTx/>
                      <a:latin typeface="Calibri"/>
                    </a:defRPr>
                  </a:pPr>
                  <a:endParaRPr lang="en-US"/>
                </a:p>
              </c:txPr>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3701-4289-A970-F5E458F43000}"/>
                </c:ext>
              </c:extLst>
            </c:dLbl>
            <c:dLbl>
              <c:idx val="3"/>
              <c:spPr/>
              <c:txPr>
                <a:bodyPr wrap="square"/>
                <a:lstStyle/>
                <a:p>
                  <a:pPr>
                    <a:defRPr sz="1000" b="0" u="none" strike="noStrike">
                      <a:solidFill>
                        <a:srgbClr val="000000"/>
                      </a:solidFill>
                      <a:uFillTx/>
                      <a:latin typeface="Calibri"/>
                    </a:defRPr>
                  </a:pPr>
                  <a:endParaRPr lang="en-US"/>
                </a:p>
              </c:txPr>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6-3701-4289-A970-F5E458F43000}"/>
                </c:ext>
              </c:extLst>
            </c:dLbl>
            <c:spPr>
              <a:noFill/>
              <a:ln>
                <a:noFill/>
              </a:ln>
              <a:effectLst/>
            </c:spPr>
            <c:txPr>
              <a:bodyPr wrap="square"/>
              <a:lstStyle/>
              <a:p>
                <a:pPr>
                  <a:defRPr sz="1000" b="0" u="none" strike="noStrike">
                    <a:solidFill>
                      <a:srgbClr val="000000"/>
                    </a:solidFill>
                    <a:uFillTx/>
                    <a:latin typeface="Calibri"/>
                  </a:defRPr>
                </a:pPr>
                <a:endParaRPr lang="en-US"/>
              </a:p>
            </c:txPr>
            <c:dLblPos val="bestFit"/>
            <c:showLegendKey val="1"/>
            <c:showVal val="1"/>
            <c:showCatName val="1"/>
            <c:showSerName val="1"/>
            <c:showPercent val="1"/>
            <c:showBubbleSize val="1"/>
            <c:separator>; </c:separator>
            <c:showLeaderLines val="1"/>
            <c:leaderLines>
              <c:spPr>
                <a:ln>
                  <a:solidFill>
                    <a:srgbClr val="F9F9F9"/>
                  </a:solidFill>
                </a:ln>
              </c:spPr>
            </c:leaderLines>
            <c:extLst>
              <c:ext xmlns:c15="http://schemas.microsoft.com/office/drawing/2012/chart" uri="{CE6537A1-D6FC-4f65-9D91-7224C49458BB}"/>
            </c:extLst>
          </c:dLbls>
          <c:cat>
            <c:strRef>
              <c:f>Chart_Data!$A$4:$A$7</c:f>
              <c:strCache>
                <c:ptCount val="4"/>
                <c:pt idx="0">
                  <c:v>Critical</c:v>
                </c:pt>
                <c:pt idx="1">
                  <c:v>Needs Support</c:v>
                </c:pt>
                <c:pt idx="2">
                  <c:v>Good</c:v>
                </c:pt>
                <c:pt idx="3">
                  <c:v>Excellent</c:v>
                </c:pt>
              </c:strCache>
            </c:strRef>
          </c:cat>
          <c:val>
            <c:numRef>
              <c:f>Chart_Data!$B$4:$B$7</c:f>
              <c:numCache>
                <c:formatCode>General</c:formatCode>
                <c:ptCount val="4"/>
                <c:pt idx="0">
                  <c:v>22</c:v>
                </c:pt>
                <c:pt idx="1">
                  <c:v>25</c:v>
                </c:pt>
                <c:pt idx="2">
                  <c:v>32</c:v>
                </c:pt>
                <c:pt idx="3">
                  <c:v>21</c:v>
                </c:pt>
              </c:numCache>
            </c:numRef>
          </c:val>
          <c:extLst>
            <c:ext xmlns:c16="http://schemas.microsoft.com/office/drawing/2014/chart" uri="{C3380CC4-5D6E-409C-BE32-E72D297353CC}">
              <c16:uniqueId val="{00000007-3701-4289-A970-F5E458F43000}"/>
            </c:ext>
          </c:extLst>
        </c:ser>
        <c:dLbls>
          <c:showLegendKey val="0"/>
          <c:showVal val="0"/>
          <c:showCatName val="0"/>
          <c:showSerName val="0"/>
          <c:showPercent val="0"/>
          <c:showBubbleSize val="0"/>
          <c:showLeaderLines val="1"/>
        </c:dLbls>
        <c:firstSliceAng val="0"/>
      </c:pieChart>
      <c:spPr>
        <a:noFill/>
        <a:ln w="0">
          <a:noFill/>
        </a:ln>
      </c:spPr>
    </c:plotArea>
    <c:legend>
      <c:legendPos val="r"/>
      <c:overlay val="0"/>
      <c:spPr>
        <a:noFill/>
        <a:ln w="0">
          <a:noFill/>
        </a:ln>
      </c:spPr>
      <c:txPr>
        <a:bodyPr/>
        <a:lstStyle/>
        <a:p>
          <a:pPr>
            <a:defRPr sz="1000" b="0" u="none" strike="noStrike">
              <a:solidFill>
                <a:srgbClr val="000000"/>
              </a:solidFill>
              <a:uFillTx/>
              <a:latin typeface="Calibri"/>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en-IN" sz="1800" b="1" u="none" strike="noStrike">
                <a:solidFill>
                  <a:srgbClr val="000000"/>
                </a:solidFill>
                <a:uFillTx/>
                <a:latin typeface="Calibri"/>
              </a:rPr>
              <a:t>Feedback vs Performance Rating</a:t>
            </a:r>
          </a:p>
        </c:rich>
      </c:tx>
      <c:overlay val="0"/>
      <c:spPr>
        <a:noFill/>
        <a:ln w="0">
          <a:noFill/>
        </a:ln>
      </c:spPr>
    </c:title>
    <c:autoTitleDeleted val="0"/>
    <c:plotArea>
      <c:layout/>
      <c:scatterChart>
        <c:scatterStyle val="lineMarker"/>
        <c:varyColors val="0"/>
        <c:ser>
          <c:idx val="0"/>
          <c:order val="0"/>
          <c:tx>
            <c:v>Feedback vs Performance Rating</c:v>
          </c:tx>
          <c:spPr>
            <a:ln w="47520">
              <a:solidFill>
                <a:srgbClr val="98B855"/>
              </a:solidFill>
              <a:round/>
            </a:ln>
          </c:spPr>
          <c:marker>
            <c:symbol val="none"/>
          </c:marker>
          <c:dLbls>
            <c:spPr>
              <a:noFill/>
              <a:ln>
                <a:noFill/>
              </a:ln>
              <a:effectLst/>
            </c:spPr>
            <c:txPr>
              <a:bodyPr wrap="none"/>
              <a:lstStyle/>
              <a:p>
                <a:pPr>
                  <a:defRPr sz="1000" b="0" u="none" strike="noStrike">
                    <a:uFillTx/>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47520">
                      <a:solidFill>
                        <a:srgbClr val="000000"/>
                      </a:solidFill>
                    </a:ln>
                  </c:spPr>
                </c15:leaderLines>
              </c:ext>
            </c:extLst>
          </c:dLbls>
          <c:xVal>
            <c:numRef>
              <c:f>Analyzer!$K$2:$K$101</c:f>
              <c:numCache>
                <c:formatCode>0.00</c:formatCode>
                <c:ptCount val="100"/>
                <c:pt idx="0">
                  <c:v>3.52</c:v>
                </c:pt>
                <c:pt idx="1">
                  <c:v>4.3499999999999996</c:v>
                </c:pt>
                <c:pt idx="2">
                  <c:v>3.79</c:v>
                </c:pt>
                <c:pt idx="3">
                  <c:v>4.34</c:v>
                </c:pt>
                <c:pt idx="4">
                  <c:v>4.07</c:v>
                </c:pt>
                <c:pt idx="5">
                  <c:v>3.84</c:v>
                </c:pt>
                <c:pt idx="6">
                  <c:v>3.8</c:v>
                </c:pt>
                <c:pt idx="7">
                  <c:v>4.93</c:v>
                </c:pt>
                <c:pt idx="8">
                  <c:v>3.98</c:v>
                </c:pt>
                <c:pt idx="9">
                  <c:v>4.6500000000000004</c:v>
                </c:pt>
                <c:pt idx="10">
                  <c:v>4.6100000000000003</c:v>
                </c:pt>
                <c:pt idx="11">
                  <c:v>4.32</c:v>
                </c:pt>
                <c:pt idx="12">
                  <c:v>4.13</c:v>
                </c:pt>
                <c:pt idx="13">
                  <c:v>4.6399999999999997</c:v>
                </c:pt>
                <c:pt idx="14">
                  <c:v>4</c:v>
                </c:pt>
                <c:pt idx="15">
                  <c:v>4.12</c:v>
                </c:pt>
                <c:pt idx="16">
                  <c:v>4.09</c:v>
                </c:pt>
                <c:pt idx="17">
                  <c:v>4.0999999999999996</c:v>
                </c:pt>
                <c:pt idx="18">
                  <c:v>4.12</c:v>
                </c:pt>
                <c:pt idx="19">
                  <c:v>4.42</c:v>
                </c:pt>
                <c:pt idx="20">
                  <c:v>4</c:v>
                </c:pt>
                <c:pt idx="21">
                  <c:v>4.1399999999999997</c:v>
                </c:pt>
                <c:pt idx="22">
                  <c:v>4.3</c:v>
                </c:pt>
                <c:pt idx="23">
                  <c:v>4.47</c:v>
                </c:pt>
                <c:pt idx="24">
                  <c:v>4.3</c:v>
                </c:pt>
                <c:pt idx="25">
                  <c:v>3.96</c:v>
                </c:pt>
                <c:pt idx="26">
                  <c:v>4.9400000000000004</c:v>
                </c:pt>
                <c:pt idx="27">
                  <c:v>4.07</c:v>
                </c:pt>
                <c:pt idx="28">
                  <c:v>3.96</c:v>
                </c:pt>
                <c:pt idx="29">
                  <c:v>4.32</c:v>
                </c:pt>
                <c:pt idx="30">
                  <c:v>4.6399999999999997</c:v>
                </c:pt>
                <c:pt idx="31">
                  <c:v>3.83</c:v>
                </c:pt>
                <c:pt idx="32">
                  <c:v>4.1399999999999997</c:v>
                </c:pt>
                <c:pt idx="33">
                  <c:v>4.33</c:v>
                </c:pt>
                <c:pt idx="34">
                  <c:v>3.49</c:v>
                </c:pt>
                <c:pt idx="35">
                  <c:v>4.29</c:v>
                </c:pt>
                <c:pt idx="36">
                  <c:v>4.42</c:v>
                </c:pt>
                <c:pt idx="37">
                  <c:v>4.13</c:v>
                </c:pt>
                <c:pt idx="38">
                  <c:v>3.57</c:v>
                </c:pt>
                <c:pt idx="39">
                  <c:v>3.96</c:v>
                </c:pt>
                <c:pt idx="40">
                  <c:v>4.1900000000000004</c:v>
                </c:pt>
                <c:pt idx="41">
                  <c:v>4.0599999999999996</c:v>
                </c:pt>
                <c:pt idx="42">
                  <c:v>4.25</c:v>
                </c:pt>
                <c:pt idx="43">
                  <c:v>3.33</c:v>
                </c:pt>
                <c:pt idx="44">
                  <c:v>3.96</c:v>
                </c:pt>
                <c:pt idx="45">
                  <c:v>4.1900000000000004</c:v>
                </c:pt>
                <c:pt idx="46">
                  <c:v>4.42</c:v>
                </c:pt>
                <c:pt idx="47">
                  <c:v>3.44</c:v>
                </c:pt>
                <c:pt idx="48">
                  <c:v>3.44</c:v>
                </c:pt>
                <c:pt idx="49">
                  <c:v>4.12</c:v>
                </c:pt>
                <c:pt idx="50">
                  <c:v>3.8</c:v>
                </c:pt>
                <c:pt idx="51">
                  <c:v>3.67</c:v>
                </c:pt>
                <c:pt idx="52">
                  <c:v>4.5</c:v>
                </c:pt>
                <c:pt idx="53">
                  <c:v>4.84</c:v>
                </c:pt>
                <c:pt idx="54">
                  <c:v>4.6399999999999997</c:v>
                </c:pt>
                <c:pt idx="55">
                  <c:v>4.53</c:v>
                </c:pt>
                <c:pt idx="56">
                  <c:v>3.73</c:v>
                </c:pt>
                <c:pt idx="57">
                  <c:v>3.55</c:v>
                </c:pt>
                <c:pt idx="58">
                  <c:v>4.21</c:v>
                </c:pt>
                <c:pt idx="59">
                  <c:v>4.1399999999999997</c:v>
                </c:pt>
                <c:pt idx="60">
                  <c:v>4.24</c:v>
                </c:pt>
                <c:pt idx="61">
                  <c:v>4.3600000000000003</c:v>
                </c:pt>
                <c:pt idx="62">
                  <c:v>4.16</c:v>
                </c:pt>
                <c:pt idx="63">
                  <c:v>3.82</c:v>
                </c:pt>
                <c:pt idx="64">
                  <c:v>4.01</c:v>
                </c:pt>
                <c:pt idx="65">
                  <c:v>4.32</c:v>
                </c:pt>
                <c:pt idx="66">
                  <c:v>4.3899999999999997</c:v>
                </c:pt>
                <c:pt idx="67">
                  <c:v>4.51</c:v>
                </c:pt>
                <c:pt idx="68">
                  <c:v>4.38</c:v>
                </c:pt>
                <c:pt idx="69">
                  <c:v>4</c:v>
                </c:pt>
                <c:pt idx="70">
                  <c:v>4.13</c:v>
                </c:pt>
                <c:pt idx="71">
                  <c:v>4.3600000000000003</c:v>
                </c:pt>
                <c:pt idx="72">
                  <c:v>3.9</c:v>
                </c:pt>
                <c:pt idx="73">
                  <c:v>4.58</c:v>
                </c:pt>
                <c:pt idx="74">
                  <c:v>3.97</c:v>
                </c:pt>
                <c:pt idx="75">
                  <c:v>4.29</c:v>
                </c:pt>
                <c:pt idx="76">
                  <c:v>3.64</c:v>
                </c:pt>
                <c:pt idx="77">
                  <c:v>4.0199999999999996</c:v>
                </c:pt>
                <c:pt idx="78">
                  <c:v>4.6399999999999997</c:v>
                </c:pt>
                <c:pt idx="79">
                  <c:v>3.7</c:v>
                </c:pt>
                <c:pt idx="80">
                  <c:v>4.09</c:v>
                </c:pt>
                <c:pt idx="81">
                  <c:v>3.94</c:v>
                </c:pt>
                <c:pt idx="82">
                  <c:v>4.54</c:v>
                </c:pt>
                <c:pt idx="83">
                  <c:v>4.29</c:v>
                </c:pt>
                <c:pt idx="84">
                  <c:v>3.96</c:v>
                </c:pt>
                <c:pt idx="85">
                  <c:v>3.57</c:v>
                </c:pt>
                <c:pt idx="86">
                  <c:v>4.12</c:v>
                </c:pt>
                <c:pt idx="87">
                  <c:v>3.44</c:v>
                </c:pt>
                <c:pt idx="88">
                  <c:v>4.5</c:v>
                </c:pt>
                <c:pt idx="89">
                  <c:v>3.88</c:v>
                </c:pt>
                <c:pt idx="90">
                  <c:v>4.09</c:v>
                </c:pt>
                <c:pt idx="91">
                  <c:v>4.0599999999999996</c:v>
                </c:pt>
                <c:pt idx="92">
                  <c:v>4.7300000000000004</c:v>
                </c:pt>
                <c:pt idx="93">
                  <c:v>3.96</c:v>
                </c:pt>
                <c:pt idx="94">
                  <c:v>4.04</c:v>
                </c:pt>
                <c:pt idx="95">
                  <c:v>4.2300000000000004</c:v>
                </c:pt>
                <c:pt idx="96">
                  <c:v>4.08</c:v>
                </c:pt>
                <c:pt idx="97">
                  <c:v>3.83</c:v>
                </c:pt>
                <c:pt idx="98">
                  <c:v>3.54</c:v>
                </c:pt>
                <c:pt idx="99">
                  <c:v>4.3600000000000003</c:v>
                </c:pt>
              </c:numCache>
            </c:numRef>
          </c:xVal>
          <c:yVal>
            <c:numRef>
              <c:f>Analyzer!$H$2:$H$101</c:f>
              <c:numCache>
                <c:formatCode>0.00</c:formatCode>
                <c:ptCount val="100"/>
                <c:pt idx="0">
                  <c:v>3.04</c:v>
                </c:pt>
                <c:pt idx="1">
                  <c:v>4.8099999999999996</c:v>
                </c:pt>
                <c:pt idx="2">
                  <c:v>4.07</c:v>
                </c:pt>
                <c:pt idx="3">
                  <c:v>4.53</c:v>
                </c:pt>
                <c:pt idx="4">
                  <c:v>3.8</c:v>
                </c:pt>
                <c:pt idx="5">
                  <c:v>3.78</c:v>
                </c:pt>
                <c:pt idx="6">
                  <c:v>3.35</c:v>
                </c:pt>
                <c:pt idx="7">
                  <c:v>4.95</c:v>
                </c:pt>
                <c:pt idx="8">
                  <c:v>3.05</c:v>
                </c:pt>
                <c:pt idx="9">
                  <c:v>4.51</c:v>
                </c:pt>
                <c:pt idx="10">
                  <c:v>4.2699999999999996</c:v>
                </c:pt>
                <c:pt idx="11">
                  <c:v>4.04</c:v>
                </c:pt>
                <c:pt idx="12">
                  <c:v>3.32</c:v>
                </c:pt>
                <c:pt idx="13">
                  <c:v>4.9400000000000004</c:v>
                </c:pt>
                <c:pt idx="14">
                  <c:v>4.3499999999999996</c:v>
                </c:pt>
                <c:pt idx="15">
                  <c:v>3.99</c:v>
                </c:pt>
                <c:pt idx="16">
                  <c:v>4.2300000000000004</c:v>
                </c:pt>
                <c:pt idx="17">
                  <c:v>3.24</c:v>
                </c:pt>
                <c:pt idx="18">
                  <c:v>4.53</c:v>
                </c:pt>
                <c:pt idx="19">
                  <c:v>4.29</c:v>
                </c:pt>
                <c:pt idx="20">
                  <c:v>3.01</c:v>
                </c:pt>
                <c:pt idx="21">
                  <c:v>3.59</c:v>
                </c:pt>
                <c:pt idx="22">
                  <c:v>4.8499999999999996</c:v>
                </c:pt>
                <c:pt idx="23">
                  <c:v>4.45</c:v>
                </c:pt>
                <c:pt idx="24">
                  <c:v>4.3</c:v>
                </c:pt>
                <c:pt idx="25">
                  <c:v>4.0599999999999996</c:v>
                </c:pt>
                <c:pt idx="26">
                  <c:v>4.92</c:v>
                </c:pt>
                <c:pt idx="27">
                  <c:v>3.74</c:v>
                </c:pt>
                <c:pt idx="28">
                  <c:v>3.28</c:v>
                </c:pt>
                <c:pt idx="29">
                  <c:v>3.64</c:v>
                </c:pt>
                <c:pt idx="30">
                  <c:v>4.38</c:v>
                </c:pt>
                <c:pt idx="31">
                  <c:v>3.12</c:v>
                </c:pt>
                <c:pt idx="32">
                  <c:v>4.03</c:v>
                </c:pt>
                <c:pt idx="33">
                  <c:v>4.45</c:v>
                </c:pt>
                <c:pt idx="34">
                  <c:v>3.37</c:v>
                </c:pt>
                <c:pt idx="35">
                  <c:v>3.99</c:v>
                </c:pt>
                <c:pt idx="36">
                  <c:v>4.99</c:v>
                </c:pt>
                <c:pt idx="37">
                  <c:v>4.21</c:v>
                </c:pt>
                <c:pt idx="38">
                  <c:v>3.18</c:v>
                </c:pt>
                <c:pt idx="39">
                  <c:v>3.82</c:v>
                </c:pt>
                <c:pt idx="40">
                  <c:v>4.42</c:v>
                </c:pt>
                <c:pt idx="41">
                  <c:v>4.37</c:v>
                </c:pt>
                <c:pt idx="42">
                  <c:v>4.99</c:v>
                </c:pt>
                <c:pt idx="43">
                  <c:v>3.17</c:v>
                </c:pt>
                <c:pt idx="44">
                  <c:v>3.13</c:v>
                </c:pt>
                <c:pt idx="45">
                  <c:v>3.63</c:v>
                </c:pt>
                <c:pt idx="46">
                  <c:v>4.3</c:v>
                </c:pt>
                <c:pt idx="47">
                  <c:v>3.23</c:v>
                </c:pt>
                <c:pt idx="48">
                  <c:v>3.28</c:v>
                </c:pt>
                <c:pt idx="49">
                  <c:v>3.98</c:v>
                </c:pt>
                <c:pt idx="50">
                  <c:v>3.31</c:v>
                </c:pt>
                <c:pt idx="51">
                  <c:v>3.75</c:v>
                </c:pt>
                <c:pt idx="52">
                  <c:v>4.49</c:v>
                </c:pt>
                <c:pt idx="53">
                  <c:v>4.68</c:v>
                </c:pt>
                <c:pt idx="54">
                  <c:v>4.83</c:v>
                </c:pt>
                <c:pt idx="55">
                  <c:v>4.41</c:v>
                </c:pt>
                <c:pt idx="56">
                  <c:v>3.71</c:v>
                </c:pt>
                <c:pt idx="57">
                  <c:v>3.31</c:v>
                </c:pt>
                <c:pt idx="58">
                  <c:v>3.56</c:v>
                </c:pt>
                <c:pt idx="59">
                  <c:v>4.43</c:v>
                </c:pt>
                <c:pt idx="60">
                  <c:v>4.88</c:v>
                </c:pt>
                <c:pt idx="61">
                  <c:v>3.71</c:v>
                </c:pt>
                <c:pt idx="62">
                  <c:v>4.47</c:v>
                </c:pt>
                <c:pt idx="63">
                  <c:v>3.79</c:v>
                </c:pt>
                <c:pt idx="64">
                  <c:v>3.72</c:v>
                </c:pt>
                <c:pt idx="65">
                  <c:v>4.1399999999999997</c:v>
                </c:pt>
                <c:pt idx="66">
                  <c:v>3.84</c:v>
                </c:pt>
                <c:pt idx="67">
                  <c:v>4.87</c:v>
                </c:pt>
                <c:pt idx="68">
                  <c:v>4.41</c:v>
                </c:pt>
                <c:pt idx="69">
                  <c:v>4.3899999999999997</c:v>
                </c:pt>
                <c:pt idx="70">
                  <c:v>4.0599999999999996</c:v>
                </c:pt>
                <c:pt idx="71">
                  <c:v>4.26</c:v>
                </c:pt>
                <c:pt idx="72">
                  <c:v>4.25</c:v>
                </c:pt>
                <c:pt idx="73">
                  <c:v>4.72</c:v>
                </c:pt>
                <c:pt idx="74">
                  <c:v>4.3</c:v>
                </c:pt>
                <c:pt idx="75">
                  <c:v>3.88</c:v>
                </c:pt>
                <c:pt idx="76">
                  <c:v>3.63</c:v>
                </c:pt>
                <c:pt idx="77">
                  <c:v>4.53</c:v>
                </c:pt>
                <c:pt idx="78">
                  <c:v>4.88</c:v>
                </c:pt>
                <c:pt idx="79">
                  <c:v>3.24</c:v>
                </c:pt>
                <c:pt idx="80">
                  <c:v>3.18</c:v>
                </c:pt>
                <c:pt idx="81">
                  <c:v>3.43</c:v>
                </c:pt>
                <c:pt idx="82">
                  <c:v>4.92</c:v>
                </c:pt>
                <c:pt idx="83">
                  <c:v>4.37</c:v>
                </c:pt>
                <c:pt idx="84">
                  <c:v>4.17</c:v>
                </c:pt>
                <c:pt idx="85">
                  <c:v>3.24</c:v>
                </c:pt>
                <c:pt idx="86">
                  <c:v>4.6399999999999997</c:v>
                </c:pt>
                <c:pt idx="87">
                  <c:v>3.18</c:v>
                </c:pt>
                <c:pt idx="88">
                  <c:v>3.99</c:v>
                </c:pt>
                <c:pt idx="89">
                  <c:v>3.95</c:v>
                </c:pt>
                <c:pt idx="90">
                  <c:v>4.58</c:v>
                </c:pt>
                <c:pt idx="91">
                  <c:v>3.62</c:v>
                </c:pt>
                <c:pt idx="92">
                  <c:v>4.96</c:v>
                </c:pt>
                <c:pt idx="93">
                  <c:v>4.08</c:v>
                </c:pt>
                <c:pt idx="94">
                  <c:v>3.64</c:v>
                </c:pt>
                <c:pt idx="95">
                  <c:v>4.21</c:v>
                </c:pt>
                <c:pt idx="96">
                  <c:v>3.61</c:v>
                </c:pt>
                <c:pt idx="97">
                  <c:v>3.71</c:v>
                </c:pt>
                <c:pt idx="98">
                  <c:v>3.32</c:v>
                </c:pt>
                <c:pt idx="99">
                  <c:v>4.3099999999999996</c:v>
                </c:pt>
              </c:numCache>
            </c:numRef>
          </c:yVal>
          <c:smooth val="1"/>
          <c:extLst>
            <c:ext xmlns:c16="http://schemas.microsoft.com/office/drawing/2014/chart" uri="{C3380CC4-5D6E-409C-BE32-E72D297353CC}">
              <c16:uniqueId val="{00000000-442B-4679-9ACB-F9D81B3FBE2B}"/>
            </c:ext>
          </c:extLst>
        </c:ser>
        <c:dLbls>
          <c:showLegendKey val="0"/>
          <c:showVal val="0"/>
          <c:showCatName val="0"/>
          <c:showSerName val="0"/>
          <c:showPercent val="0"/>
          <c:showBubbleSize val="0"/>
        </c:dLbls>
        <c:axId val="26283774"/>
        <c:axId val="79201823"/>
      </c:scatterChart>
      <c:valAx>
        <c:axId val="26283774"/>
        <c:scaling>
          <c:orientation val="minMax"/>
        </c:scaling>
        <c:delete val="0"/>
        <c:axPos val="b"/>
        <c:majorGridlines>
          <c:spPr>
            <a:ln w="9360">
              <a:solidFill>
                <a:srgbClr val="878787"/>
              </a:solidFill>
              <a:round/>
            </a:ln>
          </c:spPr>
        </c:majorGridlines>
        <c:title>
          <c:tx>
            <c:rich>
              <a:bodyPr rot="0"/>
              <a:lstStyle/>
              <a:p>
                <a:pPr>
                  <a:defRPr sz="1300" b="0" u="none" strike="noStrike">
                    <a:uFillTx/>
                    <a:latin typeface="Arial"/>
                  </a:defRPr>
                </a:pPr>
                <a:r>
                  <a:rPr lang="en-IN" sz="1000" b="1" u="none" strike="noStrike">
                    <a:solidFill>
                      <a:srgbClr val="000000"/>
                    </a:solidFill>
                    <a:uFillTx/>
                    <a:latin typeface="Calibri"/>
                  </a:rPr>
                  <a:t>Performance Rating</a:t>
                </a:r>
              </a:p>
            </c:rich>
          </c:tx>
          <c:overlay val="0"/>
          <c:spPr>
            <a:noFill/>
            <a:ln w="0">
              <a:noFill/>
            </a:ln>
          </c:spPr>
        </c:title>
        <c:numFmt formatCode="0.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79201823"/>
        <c:crosses val="autoZero"/>
        <c:crossBetween val="midCat"/>
      </c:valAx>
      <c:valAx>
        <c:axId val="79201823"/>
        <c:scaling>
          <c:orientation val="minMax"/>
        </c:scaling>
        <c:delete val="0"/>
        <c:axPos val="l"/>
        <c:majorGridlines>
          <c:spPr>
            <a:ln w="9360">
              <a:solidFill>
                <a:srgbClr val="878787"/>
              </a:solidFill>
              <a:round/>
            </a:ln>
          </c:spPr>
        </c:majorGridlines>
        <c:title>
          <c:tx>
            <c:rich>
              <a:bodyPr rot="-5400000"/>
              <a:lstStyle/>
              <a:p>
                <a:pPr>
                  <a:defRPr sz="1300" b="0" u="none" strike="noStrike">
                    <a:uFillTx/>
                    <a:latin typeface="Arial"/>
                  </a:defRPr>
                </a:pPr>
                <a:r>
                  <a:rPr lang="en-IN" sz="1000" b="1" u="none" strike="noStrike">
                    <a:solidFill>
                      <a:srgbClr val="000000"/>
                    </a:solidFill>
                    <a:uFillTx/>
                    <a:latin typeface="Calibri"/>
                  </a:rPr>
                  <a:t>Feedback Score</a:t>
                </a:r>
              </a:p>
            </c:rich>
          </c:tx>
          <c:overlay val="0"/>
          <c:spPr>
            <a:noFill/>
            <a:ln w="0">
              <a:noFill/>
            </a:ln>
          </c:spPr>
        </c:title>
        <c:numFmt formatCode="0.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26283774"/>
        <c:crosses val="autoZero"/>
        <c:crossBetween val="midCat"/>
      </c:valAx>
      <c:spPr>
        <a:noFill/>
        <a:ln w="0">
          <a:noFill/>
        </a:ln>
      </c:spPr>
    </c:plotArea>
    <c:legend>
      <c:legendPos val="r"/>
      <c:overlay val="0"/>
      <c:spPr>
        <a:noFill/>
        <a:ln w="0">
          <a:noFill/>
        </a:ln>
      </c:spPr>
      <c:txPr>
        <a:bodyPr/>
        <a:lstStyle/>
        <a:p>
          <a:pPr>
            <a:defRPr sz="1000" b="0" u="none" strike="noStrike">
              <a:solidFill>
                <a:srgbClr val="000000"/>
              </a:solidFill>
              <a:uFillTx/>
              <a:latin typeface="Calibri"/>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en-IN" sz="1800" b="1" u="none" strike="noStrike">
                <a:solidFill>
                  <a:srgbClr val="000000"/>
                </a:solidFill>
                <a:uFillTx/>
                <a:latin typeface="Calibri"/>
              </a:rPr>
              <a:t>Average Feedback by Department</a:t>
            </a:r>
          </a:p>
        </c:rich>
      </c:tx>
      <c:overlay val="0"/>
      <c:spPr>
        <a:noFill/>
        <a:ln w="0">
          <a:noFill/>
        </a:ln>
      </c:spPr>
    </c:title>
    <c:autoTitleDeleted val="0"/>
    <c:plotArea>
      <c:layout/>
      <c:barChart>
        <c:barDir val="bar"/>
        <c:grouping val="clustered"/>
        <c:varyColors val="0"/>
        <c:ser>
          <c:idx val="0"/>
          <c:order val="0"/>
          <c:tx>
            <c:strRef>
              <c:f>Chart_Data!$E$3</c:f>
              <c:strCache>
                <c:ptCount val="1"/>
                <c:pt idx="0">
                  <c:v>Avg Feedback</c:v>
                </c:pt>
              </c:strCache>
            </c:strRef>
          </c:tx>
          <c:spPr>
            <a:solidFill>
              <a:srgbClr val="C0504D"/>
            </a:solidFill>
            <a:ln w="9360">
              <a:solidFill>
                <a:srgbClr val="F9F9F9"/>
              </a:solidFill>
              <a:round/>
            </a:ln>
          </c:spPr>
          <c:invertIfNegative val="0"/>
          <c:dLbls>
            <c:spPr>
              <a:noFill/>
              <a:ln>
                <a:noFill/>
              </a:ln>
              <a:effectLst/>
            </c:spPr>
            <c:txPr>
              <a:bodyPr wrap="none"/>
              <a:lstStyle/>
              <a:p>
                <a:pPr>
                  <a:defRPr sz="1000" b="0" u="none" strike="noStrike">
                    <a:uFillTx/>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a:solidFill>
                        <a:srgbClr val="F9F9F9"/>
                      </a:solidFill>
                    </a:ln>
                  </c:spPr>
                </c15:leaderLines>
              </c:ext>
            </c:extLst>
          </c:dLbls>
          <c:cat>
            <c:strRef>
              <c:f>Chart_Data!$D$4:$D$8</c:f>
              <c:strCache>
                <c:ptCount val="5"/>
                <c:pt idx="0">
                  <c:v>Economics</c:v>
                </c:pt>
                <c:pt idx="1">
                  <c:v>Commerce</c:v>
                </c:pt>
                <c:pt idx="2">
                  <c:v>Mathematics</c:v>
                </c:pt>
                <c:pt idx="3">
                  <c:v>Management</c:v>
                </c:pt>
                <c:pt idx="4">
                  <c:v>Computer Science</c:v>
                </c:pt>
              </c:strCache>
            </c:strRef>
          </c:cat>
          <c:val>
            <c:numRef>
              <c:f>Chart_Data!$E$4:$E$8</c:f>
              <c:numCache>
                <c:formatCode>0.00</c:formatCode>
                <c:ptCount val="5"/>
                <c:pt idx="0">
                  <c:v>4.2549999999999999</c:v>
                </c:pt>
                <c:pt idx="1">
                  <c:v>4.0891666666666664</c:v>
                </c:pt>
                <c:pt idx="2">
                  <c:v>4.0110526315789468</c:v>
                </c:pt>
                <c:pt idx="3">
                  <c:v>3.8983333333333343</c:v>
                </c:pt>
                <c:pt idx="4">
                  <c:v>3.7882352941176474</c:v>
                </c:pt>
              </c:numCache>
            </c:numRef>
          </c:val>
          <c:extLst>
            <c:ext xmlns:c16="http://schemas.microsoft.com/office/drawing/2014/chart" uri="{C3380CC4-5D6E-409C-BE32-E72D297353CC}">
              <c16:uniqueId val="{00000000-3085-4FD3-8B33-DC753BE3E5B6}"/>
            </c:ext>
          </c:extLst>
        </c:ser>
        <c:dLbls>
          <c:showLegendKey val="0"/>
          <c:showVal val="0"/>
          <c:showCatName val="0"/>
          <c:showSerName val="0"/>
          <c:showPercent val="0"/>
          <c:showBubbleSize val="0"/>
        </c:dLbls>
        <c:gapWidth val="150"/>
        <c:axId val="54737289"/>
        <c:axId val="35298073"/>
      </c:barChart>
      <c:catAx>
        <c:axId val="54737289"/>
        <c:scaling>
          <c:orientation val="minMax"/>
        </c:scaling>
        <c:delete val="0"/>
        <c:axPos val="l"/>
        <c:title>
          <c:tx>
            <c:rich>
              <a:bodyPr rot="-5400000"/>
              <a:lstStyle/>
              <a:p>
                <a:pPr>
                  <a:defRPr sz="1300" b="0" u="none" strike="noStrike">
                    <a:uFillTx/>
                    <a:latin typeface="Arial"/>
                  </a:defRPr>
                </a:pPr>
                <a:r>
                  <a:rPr lang="en-IN" sz="1000" b="1" u="none" strike="noStrike">
                    <a:solidFill>
                      <a:srgbClr val="000000"/>
                    </a:solidFill>
                    <a:uFillTx/>
                    <a:latin typeface="Calibri"/>
                  </a:rPr>
                  <a:t>Department</a:t>
                </a:r>
              </a:p>
            </c:rich>
          </c:tx>
          <c:overlay val="0"/>
          <c:spPr>
            <a:noFill/>
            <a:ln w="0">
              <a:noFill/>
            </a:ln>
          </c:spPr>
        </c:title>
        <c:numFmt formatCode="General"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35298073"/>
        <c:crosses val="autoZero"/>
        <c:auto val="1"/>
        <c:lblAlgn val="ctr"/>
        <c:lblOffset val="100"/>
        <c:noMultiLvlLbl val="0"/>
      </c:catAx>
      <c:valAx>
        <c:axId val="35298073"/>
        <c:scaling>
          <c:orientation val="minMax"/>
        </c:scaling>
        <c:delete val="0"/>
        <c:axPos val="b"/>
        <c:majorGridlines>
          <c:spPr>
            <a:ln w="9360">
              <a:solidFill>
                <a:srgbClr val="878787"/>
              </a:solidFill>
              <a:round/>
            </a:ln>
          </c:spPr>
        </c:majorGridlines>
        <c:title>
          <c:tx>
            <c:rich>
              <a:bodyPr rot="0"/>
              <a:lstStyle/>
              <a:p>
                <a:pPr>
                  <a:defRPr sz="1300" b="0" u="none" strike="noStrike">
                    <a:uFillTx/>
                    <a:latin typeface="Arial"/>
                  </a:defRPr>
                </a:pPr>
                <a:r>
                  <a:rPr lang="en-IN" sz="1000" b="1" u="none" strike="noStrike">
                    <a:solidFill>
                      <a:srgbClr val="000000"/>
                    </a:solidFill>
                    <a:uFillTx/>
                    <a:latin typeface="Calibri"/>
                  </a:rPr>
                  <a:t>Feedback Score</a:t>
                </a:r>
              </a:p>
            </c:rich>
          </c:tx>
          <c:overlay val="0"/>
          <c:spPr>
            <a:noFill/>
            <a:ln w="0">
              <a:noFill/>
            </a:ln>
          </c:spPr>
        </c:title>
        <c:numFmt formatCode="0.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54737289"/>
        <c:crosses val="autoZero"/>
        <c:crossBetween val="between"/>
      </c:valAx>
      <c:spPr>
        <a:noFill/>
        <a:ln w="0">
          <a:noFill/>
        </a:ln>
      </c:spPr>
    </c:plotArea>
    <c:legend>
      <c:legendPos val="r"/>
      <c:overlay val="0"/>
      <c:spPr>
        <a:noFill/>
        <a:ln w="0">
          <a:noFill/>
        </a:ln>
      </c:spPr>
      <c:txPr>
        <a:bodyPr/>
        <a:lstStyle/>
        <a:p>
          <a:pPr>
            <a:defRPr sz="1000" b="0" u="none" strike="noStrike">
              <a:solidFill>
                <a:srgbClr val="000000"/>
              </a:solidFill>
              <a:uFillTx/>
              <a:latin typeface="Calibri"/>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en-IN" sz="1800" b="1" u="none" strike="noStrike">
                <a:solidFill>
                  <a:srgbClr val="000000"/>
                </a:solidFill>
                <a:uFillTx/>
                <a:latin typeface="Calibri"/>
              </a:rPr>
              <a:t>Feedback vs Attendance %</a:t>
            </a:r>
          </a:p>
        </c:rich>
      </c:tx>
      <c:overlay val="0"/>
      <c:spPr>
        <a:noFill/>
        <a:ln w="0">
          <a:noFill/>
        </a:ln>
      </c:spPr>
    </c:title>
    <c:autoTitleDeleted val="0"/>
    <c:plotArea>
      <c:layout/>
      <c:scatterChart>
        <c:scatterStyle val="lineMarker"/>
        <c:varyColors val="0"/>
        <c:ser>
          <c:idx val="0"/>
          <c:order val="0"/>
          <c:tx>
            <c:v>Feedback vs Attendance %</c:v>
          </c:tx>
          <c:spPr>
            <a:ln w="47520">
              <a:solidFill>
                <a:srgbClr val="98B855"/>
              </a:solidFill>
              <a:round/>
            </a:ln>
          </c:spPr>
          <c:marker>
            <c:symbol val="none"/>
          </c:marker>
          <c:dLbls>
            <c:spPr>
              <a:noFill/>
              <a:ln>
                <a:noFill/>
              </a:ln>
              <a:effectLst/>
            </c:spPr>
            <c:txPr>
              <a:bodyPr wrap="none"/>
              <a:lstStyle/>
              <a:p>
                <a:pPr>
                  <a:defRPr sz="1000" b="0" u="none" strike="noStrike">
                    <a:uFillTx/>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47520">
                      <a:solidFill>
                        <a:srgbClr val="000000"/>
                      </a:solidFill>
                    </a:ln>
                  </c:spPr>
                </c15:leaderLines>
              </c:ext>
            </c:extLst>
          </c:dLbls>
          <c:xVal>
            <c:numRef>
              <c:f>Analyzer!$I$2:$I$101</c:f>
              <c:numCache>
                <c:formatCode>0.0</c:formatCode>
                <c:ptCount val="100"/>
                <c:pt idx="0">
                  <c:v>80</c:v>
                </c:pt>
                <c:pt idx="1">
                  <c:v>88</c:v>
                </c:pt>
                <c:pt idx="2">
                  <c:v>88</c:v>
                </c:pt>
                <c:pt idx="3">
                  <c:v>85</c:v>
                </c:pt>
                <c:pt idx="4">
                  <c:v>77</c:v>
                </c:pt>
                <c:pt idx="5">
                  <c:v>96</c:v>
                </c:pt>
                <c:pt idx="6">
                  <c:v>84</c:v>
                </c:pt>
                <c:pt idx="7">
                  <c:v>60</c:v>
                </c:pt>
                <c:pt idx="8">
                  <c:v>69</c:v>
                </c:pt>
                <c:pt idx="9">
                  <c:v>81</c:v>
                </c:pt>
                <c:pt idx="10">
                  <c:v>63</c:v>
                </c:pt>
                <c:pt idx="11">
                  <c:v>60</c:v>
                </c:pt>
                <c:pt idx="12">
                  <c:v>79</c:v>
                </c:pt>
                <c:pt idx="13">
                  <c:v>64</c:v>
                </c:pt>
                <c:pt idx="14">
                  <c:v>81</c:v>
                </c:pt>
                <c:pt idx="15">
                  <c:v>82</c:v>
                </c:pt>
                <c:pt idx="16">
                  <c:v>68</c:v>
                </c:pt>
                <c:pt idx="17">
                  <c:v>63</c:v>
                </c:pt>
                <c:pt idx="18">
                  <c:v>100</c:v>
                </c:pt>
                <c:pt idx="19">
                  <c:v>72</c:v>
                </c:pt>
                <c:pt idx="20">
                  <c:v>96</c:v>
                </c:pt>
                <c:pt idx="21">
                  <c:v>93</c:v>
                </c:pt>
                <c:pt idx="22">
                  <c:v>71</c:v>
                </c:pt>
                <c:pt idx="23">
                  <c:v>86</c:v>
                </c:pt>
                <c:pt idx="24">
                  <c:v>87</c:v>
                </c:pt>
                <c:pt idx="25">
                  <c:v>88</c:v>
                </c:pt>
                <c:pt idx="26">
                  <c:v>81</c:v>
                </c:pt>
                <c:pt idx="27">
                  <c:v>62</c:v>
                </c:pt>
                <c:pt idx="28">
                  <c:v>92</c:v>
                </c:pt>
                <c:pt idx="29">
                  <c:v>75</c:v>
                </c:pt>
                <c:pt idx="30">
                  <c:v>74</c:v>
                </c:pt>
                <c:pt idx="31">
                  <c:v>98</c:v>
                </c:pt>
                <c:pt idx="32">
                  <c:v>74</c:v>
                </c:pt>
                <c:pt idx="33">
                  <c:v>94</c:v>
                </c:pt>
                <c:pt idx="34">
                  <c:v>100</c:v>
                </c:pt>
                <c:pt idx="35">
                  <c:v>88</c:v>
                </c:pt>
                <c:pt idx="36">
                  <c:v>85</c:v>
                </c:pt>
                <c:pt idx="37">
                  <c:v>80</c:v>
                </c:pt>
                <c:pt idx="38">
                  <c:v>69</c:v>
                </c:pt>
                <c:pt idx="39">
                  <c:v>66</c:v>
                </c:pt>
                <c:pt idx="40">
                  <c:v>60</c:v>
                </c:pt>
                <c:pt idx="41">
                  <c:v>60</c:v>
                </c:pt>
                <c:pt idx="42">
                  <c:v>77</c:v>
                </c:pt>
                <c:pt idx="43">
                  <c:v>99</c:v>
                </c:pt>
                <c:pt idx="44">
                  <c:v>63</c:v>
                </c:pt>
                <c:pt idx="45">
                  <c:v>73</c:v>
                </c:pt>
                <c:pt idx="46">
                  <c:v>80</c:v>
                </c:pt>
                <c:pt idx="47">
                  <c:v>66</c:v>
                </c:pt>
                <c:pt idx="48">
                  <c:v>68</c:v>
                </c:pt>
                <c:pt idx="49">
                  <c:v>77</c:v>
                </c:pt>
                <c:pt idx="50">
                  <c:v>68</c:v>
                </c:pt>
                <c:pt idx="51">
                  <c:v>95</c:v>
                </c:pt>
                <c:pt idx="52">
                  <c:v>84</c:v>
                </c:pt>
                <c:pt idx="53">
                  <c:v>63</c:v>
                </c:pt>
                <c:pt idx="54">
                  <c:v>87</c:v>
                </c:pt>
                <c:pt idx="55">
                  <c:v>74</c:v>
                </c:pt>
                <c:pt idx="56">
                  <c:v>85</c:v>
                </c:pt>
                <c:pt idx="57">
                  <c:v>69</c:v>
                </c:pt>
                <c:pt idx="58">
                  <c:v>100</c:v>
                </c:pt>
                <c:pt idx="59">
                  <c:v>88</c:v>
                </c:pt>
                <c:pt idx="60">
                  <c:v>72</c:v>
                </c:pt>
                <c:pt idx="61">
                  <c:v>95</c:v>
                </c:pt>
                <c:pt idx="62">
                  <c:v>66</c:v>
                </c:pt>
                <c:pt idx="63">
                  <c:v>72</c:v>
                </c:pt>
                <c:pt idx="64">
                  <c:v>77</c:v>
                </c:pt>
                <c:pt idx="65">
                  <c:v>95</c:v>
                </c:pt>
                <c:pt idx="66">
                  <c:v>92</c:v>
                </c:pt>
                <c:pt idx="67">
                  <c:v>66</c:v>
                </c:pt>
                <c:pt idx="68">
                  <c:v>92</c:v>
                </c:pt>
                <c:pt idx="69">
                  <c:v>64</c:v>
                </c:pt>
                <c:pt idx="70">
                  <c:v>88</c:v>
                </c:pt>
                <c:pt idx="71">
                  <c:v>95</c:v>
                </c:pt>
                <c:pt idx="72">
                  <c:v>69</c:v>
                </c:pt>
                <c:pt idx="73">
                  <c:v>90</c:v>
                </c:pt>
                <c:pt idx="74">
                  <c:v>80</c:v>
                </c:pt>
                <c:pt idx="75">
                  <c:v>96</c:v>
                </c:pt>
                <c:pt idx="76">
                  <c:v>86</c:v>
                </c:pt>
                <c:pt idx="77">
                  <c:v>83</c:v>
                </c:pt>
                <c:pt idx="78">
                  <c:v>85</c:v>
                </c:pt>
                <c:pt idx="79">
                  <c:v>88</c:v>
                </c:pt>
                <c:pt idx="80">
                  <c:v>69</c:v>
                </c:pt>
                <c:pt idx="81">
                  <c:v>99</c:v>
                </c:pt>
                <c:pt idx="82">
                  <c:v>83</c:v>
                </c:pt>
                <c:pt idx="83">
                  <c:v>68</c:v>
                </c:pt>
                <c:pt idx="84">
                  <c:v>61</c:v>
                </c:pt>
                <c:pt idx="85">
                  <c:v>64</c:v>
                </c:pt>
                <c:pt idx="86">
                  <c:v>82</c:v>
                </c:pt>
                <c:pt idx="87">
                  <c:v>63</c:v>
                </c:pt>
                <c:pt idx="88">
                  <c:v>80</c:v>
                </c:pt>
                <c:pt idx="89">
                  <c:v>82</c:v>
                </c:pt>
                <c:pt idx="90">
                  <c:v>75</c:v>
                </c:pt>
                <c:pt idx="91">
                  <c:v>60</c:v>
                </c:pt>
                <c:pt idx="92">
                  <c:v>67</c:v>
                </c:pt>
                <c:pt idx="93">
                  <c:v>67</c:v>
                </c:pt>
                <c:pt idx="94">
                  <c:v>62</c:v>
                </c:pt>
                <c:pt idx="95">
                  <c:v>91</c:v>
                </c:pt>
                <c:pt idx="96">
                  <c:v>85</c:v>
                </c:pt>
                <c:pt idx="97">
                  <c:v>90</c:v>
                </c:pt>
                <c:pt idx="98">
                  <c:v>64</c:v>
                </c:pt>
                <c:pt idx="99">
                  <c:v>77</c:v>
                </c:pt>
              </c:numCache>
            </c:numRef>
          </c:xVal>
          <c:yVal>
            <c:numRef>
              <c:f>Analyzer!$H$2:$H$101</c:f>
              <c:numCache>
                <c:formatCode>0.00</c:formatCode>
                <c:ptCount val="100"/>
                <c:pt idx="0">
                  <c:v>3.04</c:v>
                </c:pt>
                <c:pt idx="1">
                  <c:v>4.8099999999999996</c:v>
                </c:pt>
                <c:pt idx="2">
                  <c:v>4.07</c:v>
                </c:pt>
                <c:pt idx="3">
                  <c:v>4.53</c:v>
                </c:pt>
                <c:pt idx="4">
                  <c:v>3.8</c:v>
                </c:pt>
                <c:pt idx="5">
                  <c:v>3.78</c:v>
                </c:pt>
                <c:pt idx="6">
                  <c:v>3.35</c:v>
                </c:pt>
                <c:pt idx="7">
                  <c:v>4.95</c:v>
                </c:pt>
                <c:pt idx="8">
                  <c:v>3.05</c:v>
                </c:pt>
                <c:pt idx="9">
                  <c:v>4.51</c:v>
                </c:pt>
                <c:pt idx="10">
                  <c:v>4.2699999999999996</c:v>
                </c:pt>
                <c:pt idx="11">
                  <c:v>4.04</c:v>
                </c:pt>
                <c:pt idx="12">
                  <c:v>3.32</c:v>
                </c:pt>
                <c:pt idx="13">
                  <c:v>4.9400000000000004</c:v>
                </c:pt>
                <c:pt idx="14">
                  <c:v>4.3499999999999996</c:v>
                </c:pt>
                <c:pt idx="15">
                  <c:v>3.99</c:v>
                </c:pt>
                <c:pt idx="16">
                  <c:v>4.2300000000000004</c:v>
                </c:pt>
                <c:pt idx="17">
                  <c:v>3.24</c:v>
                </c:pt>
                <c:pt idx="18">
                  <c:v>4.53</c:v>
                </c:pt>
                <c:pt idx="19">
                  <c:v>4.29</c:v>
                </c:pt>
                <c:pt idx="20">
                  <c:v>3.01</c:v>
                </c:pt>
                <c:pt idx="21">
                  <c:v>3.59</c:v>
                </c:pt>
                <c:pt idx="22">
                  <c:v>4.8499999999999996</c:v>
                </c:pt>
                <c:pt idx="23">
                  <c:v>4.45</c:v>
                </c:pt>
                <c:pt idx="24">
                  <c:v>4.3</c:v>
                </c:pt>
                <c:pt idx="25">
                  <c:v>4.0599999999999996</c:v>
                </c:pt>
                <c:pt idx="26">
                  <c:v>4.92</c:v>
                </c:pt>
                <c:pt idx="27">
                  <c:v>3.74</c:v>
                </c:pt>
                <c:pt idx="28">
                  <c:v>3.28</c:v>
                </c:pt>
                <c:pt idx="29">
                  <c:v>3.64</c:v>
                </c:pt>
                <c:pt idx="30">
                  <c:v>4.38</c:v>
                </c:pt>
                <c:pt idx="31">
                  <c:v>3.12</c:v>
                </c:pt>
                <c:pt idx="32">
                  <c:v>4.03</c:v>
                </c:pt>
                <c:pt idx="33">
                  <c:v>4.45</c:v>
                </c:pt>
                <c:pt idx="34">
                  <c:v>3.37</c:v>
                </c:pt>
                <c:pt idx="35">
                  <c:v>3.99</c:v>
                </c:pt>
                <c:pt idx="36">
                  <c:v>4.99</c:v>
                </c:pt>
                <c:pt idx="37">
                  <c:v>4.21</c:v>
                </c:pt>
                <c:pt idx="38">
                  <c:v>3.18</c:v>
                </c:pt>
                <c:pt idx="39">
                  <c:v>3.82</c:v>
                </c:pt>
                <c:pt idx="40">
                  <c:v>4.42</c:v>
                </c:pt>
                <c:pt idx="41">
                  <c:v>4.37</c:v>
                </c:pt>
                <c:pt idx="42">
                  <c:v>4.99</c:v>
                </c:pt>
                <c:pt idx="43">
                  <c:v>3.17</c:v>
                </c:pt>
                <c:pt idx="44">
                  <c:v>3.13</c:v>
                </c:pt>
                <c:pt idx="45">
                  <c:v>3.63</c:v>
                </c:pt>
                <c:pt idx="46">
                  <c:v>4.3</c:v>
                </c:pt>
                <c:pt idx="47">
                  <c:v>3.23</c:v>
                </c:pt>
                <c:pt idx="48">
                  <c:v>3.28</c:v>
                </c:pt>
                <c:pt idx="49">
                  <c:v>3.98</c:v>
                </c:pt>
                <c:pt idx="50">
                  <c:v>3.31</c:v>
                </c:pt>
                <c:pt idx="51">
                  <c:v>3.75</c:v>
                </c:pt>
                <c:pt idx="52">
                  <c:v>4.49</c:v>
                </c:pt>
                <c:pt idx="53">
                  <c:v>4.68</c:v>
                </c:pt>
                <c:pt idx="54">
                  <c:v>4.83</c:v>
                </c:pt>
                <c:pt idx="55">
                  <c:v>4.41</c:v>
                </c:pt>
                <c:pt idx="56">
                  <c:v>3.71</c:v>
                </c:pt>
                <c:pt idx="57">
                  <c:v>3.31</c:v>
                </c:pt>
                <c:pt idx="58">
                  <c:v>3.56</c:v>
                </c:pt>
                <c:pt idx="59">
                  <c:v>4.43</c:v>
                </c:pt>
                <c:pt idx="60">
                  <c:v>4.88</c:v>
                </c:pt>
                <c:pt idx="61">
                  <c:v>3.71</c:v>
                </c:pt>
                <c:pt idx="62">
                  <c:v>4.47</c:v>
                </c:pt>
                <c:pt idx="63">
                  <c:v>3.79</c:v>
                </c:pt>
                <c:pt idx="64">
                  <c:v>3.72</c:v>
                </c:pt>
                <c:pt idx="65">
                  <c:v>4.1399999999999997</c:v>
                </c:pt>
                <c:pt idx="66">
                  <c:v>3.84</c:v>
                </c:pt>
                <c:pt idx="67">
                  <c:v>4.87</c:v>
                </c:pt>
                <c:pt idx="68">
                  <c:v>4.41</c:v>
                </c:pt>
                <c:pt idx="69">
                  <c:v>4.3899999999999997</c:v>
                </c:pt>
                <c:pt idx="70">
                  <c:v>4.0599999999999996</c:v>
                </c:pt>
                <c:pt idx="71">
                  <c:v>4.26</c:v>
                </c:pt>
                <c:pt idx="72">
                  <c:v>4.25</c:v>
                </c:pt>
                <c:pt idx="73">
                  <c:v>4.72</c:v>
                </c:pt>
                <c:pt idx="74">
                  <c:v>4.3</c:v>
                </c:pt>
                <c:pt idx="75">
                  <c:v>3.88</c:v>
                </c:pt>
                <c:pt idx="76">
                  <c:v>3.63</c:v>
                </c:pt>
                <c:pt idx="77">
                  <c:v>4.53</c:v>
                </c:pt>
                <c:pt idx="78">
                  <c:v>4.88</c:v>
                </c:pt>
                <c:pt idx="79">
                  <c:v>3.24</c:v>
                </c:pt>
                <c:pt idx="80">
                  <c:v>3.18</c:v>
                </c:pt>
                <c:pt idx="81">
                  <c:v>3.43</c:v>
                </c:pt>
                <c:pt idx="82">
                  <c:v>4.92</c:v>
                </c:pt>
                <c:pt idx="83">
                  <c:v>4.37</c:v>
                </c:pt>
                <c:pt idx="84">
                  <c:v>4.17</c:v>
                </c:pt>
                <c:pt idx="85">
                  <c:v>3.24</c:v>
                </c:pt>
                <c:pt idx="86">
                  <c:v>4.6399999999999997</c:v>
                </c:pt>
                <c:pt idx="87">
                  <c:v>3.18</c:v>
                </c:pt>
                <c:pt idx="88">
                  <c:v>3.99</c:v>
                </c:pt>
                <c:pt idx="89">
                  <c:v>3.95</c:v>
                </c:pt>
                <c:pt idx="90">
                  <c:v>4.58</c:v>
                </c:pt>
                <c:pt idx="91">
                  <c:v>3.62</c:v>
                </c:pt>
                <c:pt idx="92">
                  <c:v>4.96</c:v>
                </c:pt>
                <c:pt idx="93">
                  <c:v>4.08</c:v>
                </c:pt>
                <c:pt idx="94">
                  <c:v>3.64</c:v>
                </c:pt>
                <c:pt idx="95">
                  <c:v>4.21</c:v>
                </c:pt>
                <c:pt idx="96">
                  <c:v>3.61</c:v>
                </c:pt>
                <c:pt idx="97">
                  <c:v>3.71</c:v>
                </c:pt>
                <c:pt idx="98">
                  <c:v>3.32</c:v>
                </c:pt>
                <c:pt idx="99">
                  <c:v>4.3099999999999996</c:v>
                </c:pt>
              </c:numCache>
            </c:numRef>
          </c:yVal>
          <c:smooth val="1"/>
          <c:extLst>
            <c:ext xmlns:c16="http://schemas.microsoft.com/office/drawing/2014/chart" uri="{C3380CC4-5D6E-409C-BE32-E72D297353CC}">
              <c16:uniqueId val="{00000000-5AE1-41D4-915C-6D7AFCD85FA0}"/>
            </c:ext>
          </c:extLst>
        </c:ser>
        <c:dLbls>
          <c:showLegendKey val="0"/>
          <c:showVal val="0"/>
          <c:showCatName val="0"/>
          <c:showSerName val="0"/>
          <c:showPercent val="0"/>
          <c:showBubbleSize val="0"/>
        </c:dLbls>
        <c:axId val="94747746"/>
        <c:axId val="56410362"/>
      </c:scatterChart>
      <c:valAx>
        <c:axId val="94747746"/>
        <c:scaling>
          <c:orientation val="minMax"/>
        </c:scaling>
        <c:delete val="0"/>
        <c:axPos val="b"/>
        <c:majorGridlines>
          <c:spPr>
            <a:ln w="9360">
              <a:solidFill>
                <a:srgbClr val="878787"/>
              </a:solidFill>
              <a:round/>
            </a:ln>
          </c:spPr>
        </c:majorGridlines>
        <c:title>
          <c:tx>
            <c:rich>
              <a:bodyPr rot="0"/>
              <a:lstStyle/>
              <a:p>
                <a:pPr>
                  <a:defRPr sz="1300" b="0" u="none" strike="noStrike">
                    <a:uFillTx/>
                    <a:latin typeface="Arial"/>
                  </a:defRPr>
                </a:pPr>
                <a:r>
                  <a:rPr lang="en-IN" sz="1000" b="1" u="none" strike="noStrike">
                    <a:solidFill>
                      <a:srgbClr val="000000"/>
                    </a:solidFill>
                    <a:uFillTx/>
                    <a:latin typeface="Calibri"/>
                  </a:rPr>
                  <a:t>Attendance %</a:t>
                </a:r>
              </a:p>
            </c:rich>
          </c:tx>
          <c:overlay val="0"/>
          <c:spPr>
            <a:noFill/>
            <a:ln w="0">
              <a:noFill/>
            </a:ln>
          </c:spPr>
        </c:title>
        <c:numFmt formatCode="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56410362"/>
        <c:crosses val="autoZero"/>
        <c:crossBetween val="midCat"/>
      </c:valAx>
      <c:valAx>
        <c:axId val="56410362"/>
        <c:scaling>
          <c:orientation val="minMax"/>
        </c:scaling>
        <c:delete val="0"/>
        <c:axPos val="l"/>
        <c:majorGridlines>
          <c:spPr>
            <a:ln w="9360">
              <a:solidFill>
                <a:srgbClr val="878787"/>
              </a:solidFill>
              <a:round/>
            </a:ln>
          </c:spPr>
        </c:majorGridlines>
        <c:title>
          <c:tx>
            <c:rich>
              <a:bodyPr rot="-5400000"/>
              <a:lstStyle/>
              <a:p>
                <a:pPr>
                  <a:defRPr sz="1300" b="0" u="none" strike="noStrike">
                    <a:uFillTx/>
                    <a:latin typeface="Arial"/>
                  </a:defRPr>
                </a:pPr>
                <a:r>
                  <a:rPr lang="en-IN" sz="1000" b="1" u="none" strike="noStrike">
                    <a:solidFill>
                      <a:srgbClr val="000000"/>
                    </a:solidFill>
                    <a:uFillTx/>
                    <a:latin typeface="Calibri"/>
                  </a:rPr>
                  <a:t>Feedback Score</a:t>
                </a:r>
              </a:p>
            </c:rich>
          </c:tx>
          <c:overlay val="0"/>
          <c:spPr>
            <a:noFill/>
            <a:ln w="0">
              <a:noFill/>
            </a:ln>
          </c:spPr>
        </c:title>
        <c:numFmt formatCode="0.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94747746"/>
        <c:crosses val="autoZero"/>
        <c:crossBetween val="midCat"/>
      </c:valAx>
      <c:spPr>
        <a:noFill/>
        <a:ln w="0">
          <a:noFill/>
        </a:ln>
      </c:spPr>
    </c:plotArea>
    <c:legend>
      <c:legendPos val="r"/>
      <c:overlay val="0"/>
      <c:spPr>
        <a:noFill/>
        <a:ln w="0">
          <a:noFill/>
        </a:ln>
      </c:spPr>
      <c:txPr>
        <a:bodyPr/>
        <a:lstStyle/>
        <a:p>
          <a:pPr>
            <a:defRPr sz="1000" b="0" u="none" strike="noStrike">
              <a:solidFill>
                <a:srgbClr val="000000"/>
              </a:solidFill>
              <a:uFillTx/>
              <a:latin typeface="Calibri"/>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en-IN" sz="1800" b="1" u="none" strike="noStrike">
                <a:solidFill>
                  <a:srgbClr val="000000"/>
                </a:solidFill>
                <a:uFillTx/>
                <a:latin typeface="Calibri"/>
              </a:rPr>
              <a:t>Feedback vs Workload %</a:t>
            </a:r>
          </a:p>
        </c:rich>
      </c:tx>
      <c:overlay val="0"/>
      <c:spPr>
        <a:noFill/>
        <a:ln w="0">
          <a:noFill/>
        </a:ln>
      </c:spPr>
    </c:title>
    <c:autoTitleDeleted val="0"/>
    <c:plotArea>
      <c:layout/>
      <c:scatterChart>
        <c:scatterStyle val="lineMarker"/>
        <c:varyColors val="0"/>
        <c:ser>
          <c:idx val="0"/>
          <c:order val="0"/>
          <c:tx>
            <c:v>Feedback vs Workload %</c:v>
          </c:tx>
          <c:spPr>
            <a:ln w="47520">
              <a:solidFill>
                <a:srgbClr val="98B855"/>
              </a:solidFill>
              <a:round/>
            </a:ln>
          </c:spPr>
          <c:marker>
            <c:symbol val="none"/>
          </c:marker>
          <c:dLbls>
            <c:spPr>
              <a:noFill/>
              <a:ln>
                <a:noFill/>
              </a:ln>
              <a:effectLst/>
            </c:spPr>
            <c:txPr>
              <a:bodyPr wrap="none"/>
              <a:lstStyle/>
              <a:p>
                <a:pPr>
                  <a:defRPr sz="1000" b="0" u="none" strike="noStrike">
                    <a:uFillTx/>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w="47520">
                      <a:solidFill>
                        <a:srgbClr val="000000"/>
                      </a:solidFill>
                    </a:ln>
                  </c:spPr>
                </c15:leaderLines>
              </c:ext>
            </c:extLst>
          </c:dLbls>
          <c:xVal>
            <c:numRef>
              <c:f>Analyzer!$G$2:$G$101</c:f>
              <c:numCache>
                <c:formatCode>0.0</c:formatCode>
                <c:ptCount val="100"/>
                <c:pt idx="0">
                  <c:v>25</c:v>
                </c:pt>
                <c:pt idx="1">
                  <c:v>30</c:v>
                </c:pt>
                <c:pt idx="2">
                  <c:v>40</c:v>
                </c:pt>
                <c:pt idx="3">
                  <c:v>25</c:v>
                </c:pt>
                <c:pt idx="4">
                  <c:v>25</c:v>
                </c:pt>
                <c:pt idx="5">
                  <c:v>20</c:v>
                </c:pt>
                <c:pt idx="6">
                  <c:v>30</c:v>
                </c:pt>
                <c:pt idx="7">
                  <c:v>45</c:v>
                </c:pt>
                <c:pt idx="8">
                  <c:v>40</c:v>
                </c:pt>
                <c:pt idx="9">
                  <c:v>30</c:v>
                </c:pt>
                <c:pt idx="10">
                  <c:v>45</c:v>
                </c:pt>
                <c:pt idx="11">
                  <c:v>25</c:v>
                </c:pt>
                <c:pt idx="12">
                  <c:v>25</c:v>
                </c:pt>
                <c:pt idx="13">
                  <c:v>30</c:v>
                </c:pt>
                <c:pt idx="14">
                  <c:v>30</c:v>
                </c:pt>
                <c:pt idx="15">
                  <c:v>20</c:v>
                </c:pt>
                <c:pt idx="16">
                  <c:v>40</c:v>
                </c:pt>
                <c:pt idx="17">
                  <c:v>35</c:v>
                </c:pt>
                <c:pt idx="18">
                  <c:v>35</c:v>
                </c:pt>
                <c:pt idx="19">
                  <c:v>30</c:v>
                </c:pt>
                <c:pt idx="20">
                  <c:v>30</c:v>
                </c:pt>
                <c:pt idx="21">
                  <c:v>20</c:v>
                </c:pt>
                <c:pt idx="22">
                  <c:v>35</c:v>
                </c:pt>
                <c:pt idx="23">
                  <c:v>35</c:v>
                </c:pt>
                <c:pt idx="24">
                  <c:v>30</c:v>
                </c:pt>
                <c:pt idx="25">
                  <c:v>45</c:v>
                </c:pt>
                <c:pt idx="26">
                  <c:v>25</c:v>
                </c:pt>
                <c:pt idx="27">
                  <c:v>30</c:v>
                </c:pt>
                <c:pt idx="28">
                  <c:v>30</c:v>
                </c:pt>
                <c:pt idx="29">
                  <c:v>35</c:v>
                </c:pt>
                <c:pt idx="30">
                  <c:v>35</c:v>
                </c:pt>
                <c:pt idx="31">
                  <c:v>40</c:v>
                </c:pt>
                <c:pt idx="32">
                  <c:v>35</c:v>
                </c:pt>
                <c:pt idx="33">
                  <c:v>20</c:v>
                </c:pt>
                <c:pt idx="34">
                  <c:v>40</c:v>
                </c:pt>
                <c:pt idx="35">
                  <c:v>35</c:v>
                </c:pt>
                <c:pt idx="36">
                  <c:v>25</c:v>
                </c:pt>
                <c:pt idx="37">
                  <c:v>30</c:v>
                </c:pt>
                <c:pt idx="38">
                  <c:v>50</c:v>
                </c:pt>
                <c:pt idx="39">
                  <c:v>15</c:v>
                </c:pt>
                <c:pt idx="40">
                  <c:v>20</c:v>
                </c:pt>
                <c:pt idx="41">
                  <c:v>30</c:v>
                </c:pt>
                <c:pt idx="42">
                  <c:v>35</c:v>
                </c:pt>
                <c:pt idx="43">
                  <c:v>45</c:v>
                </c:pt>
                <c:pt idx="44">
                  <c:v>35</c:v>
                </c:pt>
                <c:pt idx="45">
                  <c:v>30</c:v>
                </c:pt>
                <c:pt idx="46">
                  <c:v>40</c:v>
                </c:pt>
                <c:pt idx="47">
                  <c:v>35</c:v>
                </c:pt>
                <c:pt idx="48">
                  <c:v>50</c:v>
                </c:pt>
                <c:pt idx="49">
                  <c:v>20</c:v>
                </c:pt>
                <c:pt idx="50">
                  <c:v>45</c:v>
                </c:pt>
                <c:pt idx="51">
                  <c:v>35</c:v>
                </c:pt>
                <c:pt idx="52">
                  <c:v>45</c:v>
                </c:pt>
                <c:pt idx="53">
                  <c:v>25</c:v>
                </c:pt>
                <c:pt idx="54">
                  <c:v>35</c:v>
                </c:pt>
                <c:pt idx="55">
                  <c:v>50</c:v>
                </c:pt>
                <c:pt idx="56">
                  <c:v>25</c:v>
                </c:pt>
                <c:pt idx="57">
                  <c:v>25</c:v>
                </c:pt>
                <c:pt idx="58">
                  <c:v>20</c:v>
                </c:pt>
                <c:pt idx="59">
                  <c:v>35</c:v>
                </c:pt>
                <c:pt idx="60">
                  <c:v>35</c:v>
                </c:pt>
                <c:pt idx="61">
                  <c:v>30</c:v>
                </c:pt>
                <c:pt idx="62">
                  <c:v>55</c:v>
                </c:pt>
                <c:pt idx="63">
                  <c:v>35</c:v>
                </c:pt>
                <c:pt idx="64">
                  <c:v>15</c:v>
                </c:pt>
                <c:pt idx="65">
                  <c:v>45</c:v>
                </c:pt>
                <c:pt idx="66">
                  <c:v>30</c:v>
                </c:pt>
                <c:pt idx="67">
                  <c:v>25</c:v>
                </c:pt>
                <c:pt idx="68">
                  <c:v>30</c:v>
                </c:pt>
                <c:pt idx="69">
                  <c:v>40</c:v>
                </c:pt>
                <c:pt idx="70">
                  <c:v>35</c:v>
                </c:pt>
                <c:pt idx="71">
                  <c:v>30</c:v>
                </c:pt>
                <c:pt idx="72">
                  <c:v>40</c:v>
                </c:pt>
                <c:pt idx="73">
                  <c:v>15</c:v>
                </c:pt>
                <c:pt idx="74">
                  <c:v>40</c:v>
                </c:pt>
                <c:pt idx="75">
                  <c:v>30</c:v>
                </c:pt>
                <c:pt idx="76">
                  <c:v>40</c:v>
                </c:pt>
                <c:pt idx="77">
                  <c:v>25</c:v>
                </c:pt>
                <c:pt idx="78">
                  <c:v>30</c:v>
                </c:pt>
                <c:pt idx="79">
                  <c:v>45</c:v>
                </c:pt>
                <c:pt idx="80">
                  <c:v>30</c:v>
                </c:pt>
                <c:pt idx="81">
                  <c:v>25</c:v>
                </c:pt>
                <c:pt idx="82">
                  <c:v>50</c:v>
                </c:pt>
                <c:pt idx="83">
                  <c:v>35</c:v>
                </c:pt>
                <c:pt idx="84">
                  <c:v>35</c:v>
                </c:pt>
                <c:pt idx="85">
                  <c:v>40</c:v>
                </c:pt>
                <c:pt idx="86">
                  <c:v>25</c:v>
                </c:pt>
                <c:pt idx="87">
                  <c:v>40</c:v>
                </c:pt>
                <c:pt idx="88">
                  <c:v>30</c:v>
                </c:pt>
                <c:pt idx="89">
                  <c:v>20</c:v>
                </c:pt>
                <c:pt idx="90">
                  <c:v>15</c:v>
                </c:pt>
                <c:pt idx="91">
                  <c:v>20</c:v>
                </c:pt>
                <c:pt idx="92">
                  <c:v>45</c:v>
                </c:pt>
                <c:pt idx="93">
                  <c:v>35</c:v>
                </c:pt>
                <c:pt idx="94">
                  <c:v>30</c:v>
                </c:pt>
                <c:pt idx="95">
                  <c:v>35</c:v>
                </c:pt>
                <c:pt idx="96">
                  <c:v>45</c:v>
                </c:pt>
                <c:pt idx="97">
                  <c:v>25</c:v>
                </c:pt>
                <c:pt idx="98">
                  <c:v>35</c:v>
                </c:pt>
                <c:pt idx="99">
                  <c:v>35</c:v>
                </c:pt>
              </c:numCache>
            </c:numRef>
          </c:xVal>
          <c:yVal>
            <c:numRef>
              <c:f>Analyzer!$H$2:$H$101</c:f>
              <c:numCache>
                <c:formatCode>0.00</c:formatCode>
                <c:ptCount val="100"/>
                <c:pt idx="0">
                  <c:v>3.04</c:v>
                </c:pt>
                <c:pt idx="1">
                  <c:v>4.8099999999999996</c:v>
                </c:pt>
                <c:pt idx="2">
                  <c:v>4.07</c:v>
                </c:pt>
                <c:pt idx="3">
                  <c:v>4.53</c:v>
                </c:pt>
                <c:pt idx="4">
                  <c:v>3.8</c:v>
                </c:pt>
                <c:pt idx="5">
                  <c:v>3.78</c:v>
                </c:pt>
                <c:pt idx="6">
                  <c:v>3.35</c:v>
                </c:pt>
                <c:pt idx="7">
                  <c:v>4.95</c:v>
                </c:pt>
                <c:pt idx="8">
                  <c:v>3.05</c:v>
                </c:pt>
                <c:pt idx="9">
                  <c:v>4.51</c:v>
                </c:pt>
                <c:pt idx="10">
                  <c:v>4.2699999999999996</c:v>
                </c:pt>
                <c:pt idx="11">
                  <c:v>4.04</c:v>
                </c:pt>
                <c:pt idx="12">
                  <c:v>3.32</c:v>
                </c:pt>
                <c:pt idx="13">
                  <c:v>4.9400000000000004</c:v>
                </c:pt>
                <c:pt idx="14">
                  <c:v>4.3499999999999996</c:v>
                </c:pt>
                <c:pt idx="15">
                  <c:v>3.99</c:v>
                </c:pt>
                <c:pt idx="16">
                  <c:v>4.2300000000000004</c:v>
                </c:pt>
                <c:pt idx="17">
                  <c:v>3.24</c:v>
                </c:pt>
                <c:pt idx="18">
                  <c:v>4.53</c:v>
                </c:pt>
                <c:pt idx="19">
                  <c:v>4.29</c:v>
                </c:pt>
                <c:pt idx="20">
                  <c:v>3.01</c:v>
                </c:pt>
                <c:pt idx="21">
                  <c:v>3.59</c:v>
                </c:pt>
                <c:pt idx="22">
                  <c:v>4.8499999999999996</c:v>
                </c:pt>
                <c:pt idx="23">
                  <c:v>4.45</c:v>
                </c:pt>
                <c:pt idx="24">
                  <c:v>4.3</c:v>
                </c:pt>
                <c:pt idx="25">
                  <c:v>4.0599999999999996</c:v>
                </c:pt>
                <c:pt idx="26">
                  <c:v>4.92</c:v>
                </c:pt>
                <c:pt idx="27">
                  <c:v>3.74</c:v>
                </c:pt>
                <c:pt idx="28">
                  <c:v>3.28</c:v>
                </c:pt>
                <c:pt idx="29">
                  <c:v>3.64</c:v>
                </c:pt>
                <c:pt idx="30">
                  <c:v>4.38</c:v>
                </c:pt>
                <c:pt idx="31">
                  <c:v>3.12</c:v>
                </c:pt>
                <c:pt idx="32">
                  <c:v>4.03</c:v>
                </c:pt>
                <c:pt idx="33">
                  <c:v>4.45</c:v>
                </c:pt>
                <c:pt idx="34">
                  <c:v>3.37</c:v>
                </c:pt>
                <c:pt idx="35">
                  <c:v>3.99</c:v>
                </c:pt>
                <c:pt idx="36">
                  <c:v>4.99</c:v>
                </c:pt>
                <c:pt idx="37">
                  <c:v>4.21</c:v>
                </c:pt>
                <c:pt idx="38">
                  <c:v>3.18</c:v>
                </c:pt>
                <c:pt idx="39">
                  <c:v>3.82</c:v>
                </c:pt>
                <c:pt idx="40">
                  <c:v>4.42</c:v>
                </c:pt>
                <c:pt idx="41">
                  <c:v>4.37</c:v>
                </c:pt>
                <c:pt idx="42">
                  <c:v>4.99</c:v>
                </c:pt>
                <c:pt idx="43">
                  <c:v>3.17</c:v>
                </c:pt>
                <c:pt idx="44">
                  <c:v>3.13</c:v>
                </c:pt>
                <c:pt idx="45">
                  <c:v>3.63</c:v>
                </c:pt>
                <c:pt idx="46">
                  <c:v>4.3</c:v>
                </c:pt>
                <c:pt idx="47">
                  <c:v>3.23</c:v>
                </c:pt>
                <c:pt idx="48">
                  <c:v>3.28</c:v>
                </c:pt>
                <c:pt idx="49">
                  <c:v>3.98</c:v>
                </c:pt>
                <c:pt idx="50">
                  <c:v>3.31</c:v>
                </c:pt>
                <c:pt idx="51">
                  <c:v>3.75</c:v>
                </c:pt>
                <c:pt idx="52">
                  <c:v>4.49</c:v>
                </c:pt>
                <c:pt idx="53">
                  <c:v>4.68</c:v>
                </c:pt>
                <c:pt idx="54">
                  <c:v>4.83</c:v>
                </c:pt>
                <c:pt idx="55">
                  <c:v>4.41</c:v>
                </c:pt>
                <c:pt idx="56">
                  <c:v>3.71</c:v>
                </c:pt>
                <c:pt idx="57">
                  <c:v>3.31</c:v>
                </c:pt>
                <c:pt idx="58">
                  <c:v>3.56</c:v>
                </c:pt>
                <c:pt idx="59">
                  <c:v>4.43</c:v>
                </c:pt>
                <c:pt idx="60">
                  <c:v>4.88</c:v>
                </c:pt>
                <c:pt idx="61">
                  <c:v>3.71</c:v>
                </c:pt>
                <c:pt idx="62">
                  <c:v>4.47</c:v>
                </c:pt>
                <c:pt idx="63">
                  <c:v>3.79</c:v>
                </c:pt>
                <c:pt idx="64">
                  <c:v>3.72</c:v>
                </c:pt>
                <c:pt idx="65">
                  <c:v>4.1399999999999997</c:v>
                </c:pt>
                <c:pt idx="66">
                  <c:v>3.84</c:v>
                </c:pt>
                <c:pt idx="67">
                  <c:v>4.87</c:v>
                </c:pt>
                <c:pt idx="68">
                  <c:v>4.41</c:v>
                </c:pt>
                <c:pt idx="69">
                  <c:v>4.3899999999999997</c:v>
                </c:pt>
                <c:pt idx="70">
                  <c:v>4.0599999999999996</c:v>
                </c:pt>
                <c:pt idx="71">
                  <c:v>4.26</c:v>
                </c:pt>
                <c:pt idx="72">
                  <c:v>4.25</c:v>
                </c:pt>
                <c:pt idx="73">
                  <c:v>4.72</c:v>
                </c:pt>
                <c:pt idx="74">
                  <c:v>4.3</c:v>
                </c:pt>
                <c:pt idx="75">
                  <c:v>3.88</c:v>
                </c:pt>
                <c:pt idx="76">
                  <c:v>3.63</c:v>
                </c:pt>
                <c:pt idx="77">
                  <c:v>4.53</c:v>
                </c:pt>
                <c:pt idx="78">
                  <c:v>4.88</c:v>
                </c:pt>
                <c:pt idx="79">
                  <c:v>3.24</c:v>
                </c:pt>
                <c:pt idx="80">
                  <c:v>3.18</c:v>
                </c:pt>
                <c:pt idx="81">
                  <c:v>3.43</c:v>
                </c:pt>
                <c:pt idx="82">
                  <c:v>4.92</c:v>
                </c:pt>
                <c:pt idx="83">
                  <c:v>4.37</c:v>
                </c:pt>
                <c:pt idx="84">
                  <c:v>4.17</c:v>
                </c:pt>
                <c:pt idx="85">
                  <c:v>3.24</c:v>
                </c:pt>
                <c:pt idx="86">
                  <c:v>4.6399999999999997</c:v>
                </c:pt>
                <c:pt idx="87">
                  <c:v>3.18</c:v>
                </c:pt>
                <c:pt idx="88">
                  <c:v>3.99</c:v>
                </c:pt>
                <c:pt idx="89">
                  <c:v>3.95</c:v>
                </c:pt>
                <c:pt idx="90">
                  <c:v>4.58</c:v>
                </c:pt>
                <c:pt idx="91">
                  <c:v>3.62</c:v>
                </c:pt>
                <c:pt idx="92">
                  <c:v>4.96</c:v>
                </c:pt>
                <c:pt idx="93">
                  <c:v>4.08</c:v>
                </c:pt>
                <c:pt idx="94">
                  <c:v>3.64</c:v>
                </c:pt>
                <c:pt idx="95">
                  <c:v>4.21</c:v>
                </c:pt>
                <c:pt idx="96">
                  <c:v>3.61</c:v>
                </c:pt>
                <c:pt idx="97">
                  <c:v>3.71</c:v>
                </c:pt>
                <c:pt idx="98">
                  <c:v>3.32</c:v>
                </c:pt>
                <c:pt idx="99">
                  <c:v>4.3099999999999996</c:v>
                </c:pt>
              </c:numCache>
            </c:numRef>
          </c:yVal>
          <c:smooth val="1"/>
          <c:extLst>
            <c:ext xmlns:c16="http://schemas.microsoft.com/office/drawing/2014/chart" uri="{C3380CC4-5D6E-409C-BE32-E72D297353CC}">
              <c16:uniqueId val="{00000000-B288-4BA7-A60B-6DCA4E167265}"/>
            </c:ext>
          </c:extLst>
        </c:ser>
        <c:dLbls>
          <c:showLegendKey val="0"/>
          <c:showVal val="0"/>
          <c:showCatName val="0"/>
          <c:showSerName val="0"/>
          <c:showPercent val="0"/>
          <c:showBubbleSize val="0"/>
        </c:dLbls>
        <c:axId val="96094615"/>
        <c:axId val="25946768"/>
      </c:scatterChart>
      <c:valAx>
        <c:axId val="96094615"/>
        <c:scaling>
          <c:orientation val="minMax"/>
        </c:scaling>
        <c:delete val="0"/>
        <c:axPos val="b"/>
        <c:majorGridlines>
          <c:spPr>
            <a:ln w="9360">
              <a:solidFill>
                <a:srgbClr val="878787"/>
              </a:solidFill>
              <a:round/>
            </a:ln>
          </c:spPr>
        </c:majorGridlines>
        <c:title>
          <c:tx>
            <c:rich>
              <a:bodyPr rot="0"/>
              <a:lstStyle/>
              <a:p>
                <a:pPr>
                  <a:defRPr sz="1300" b="0" u="none" strike="noStrike">
                    <a:uFillTx/>
                    <a:latin typeface="Arial"/>
                  </a:defRPr>
                </a:pPr>
                <a:r>
                  <a:rPr lang="en-IN" sz="1000" b="1" u="none" strike="noStrike">
                    <a:solidFill>
                      <a:srgbClr val="000000"/>
                    </a:solidFill>
                    <a:uFillTx/>
                    <a:latin typeface="Calibri"/>
                  </a:rPr>
                  <a:t>Workload %</a:t>
                </a:r>
              </a:p>
            </c:rich>
          </c:tx>
          <c:layout>
            <c:manualLayout>
              <c:xMode val="edge"/>
              <c:yMode val="edge"/>
              <c:x val="0.29420329387233068"/>
              <c:y val="0.79578390253644882"/>
            </c:manualLayout>
          </c:layout>
          <c:overlay val="0"/>
          <c:spPr>
            <a:noFill/>
            <a:ln w="0">
              <a:noFill/>
            </a:ln>
          </c:spPr>
        </c:title>
        <c:numFmt formatCode="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25946768"/>
        <c:crosses val="autoZero"/>
        <c:crossBetween val="midCat"/>
      </c:valAx>
      <c:valAx>
        <c:axId val="25946768"/>
        <c:scaling>
          <c:orientation val="minMax"/>
        </c:scaling>
        <c:delete val="0"/>
        <c:axPos val="l"/>
        <c:majorGridlines>
          <c:spPr>
            <a:ln w="9360">
              <a:solidFill>
                <a:srgbClr val="878787"/>
              </a:solidFill>
              <a:round/>
            </a:ln>
          </c:spPr>
        </c:majorGridlines>
        <c:title>
          <c:tx>
            <c:rich>
              <a:bodyPr rot="-5400000"/>
              <a:lstStyle/>
              <a:p>
                <a:pPr>
                  <a:defRPr sz="1300" b="0" u="none" strike="noStrike">
                    <a:uFillTx/>
                    <a:latin typeface="Arial"/>
                  </a:defRPr>
                </a:pPr>
                <a:r>
                  <a:rPr lang="en-IN" sz="1000" b="1" u="none" strike="noStrike">
                    <a:solidFill>
                      <a:srgbClr val="000000"/>
                    </a:solidFill>
                    <a:uFillTx/>
                    <a:latin typeface="Calibri"/>
                  </a:rPr>
                  <a:t>Feedback Score</a:t>
                </a:r>
              </a:p>
            </c:rich>
          </c:tx>
          <c:overlay val="0"/>
          <c:spPr>
            <a:noFill/>
            <a:ln w="0">
              <a:noFill/>
            </a:ln>
          </c:spPr>
        </c:title>
        <c:numFmt formatCode="0.00"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96094615"/>
        <c:crosses val="autoZero"/>
        <c:crossBetween val="midCat"/>
      </c:valAx>
      <c:spPr>
        <a:noFill/>
        <a:ln w="0">
          <a:noFill/>
        </a:ln>
      </c:spPr>
    </c:plotArea>
    <c:legend>
      <c:legendPos val="r"/>
      <c:overlay val="0"/>
      <c:spPr>
        <a:noFill/>
        <a:ln w="0">
          <a:noFill/>
        </a:ln>
      </c:spPr>
      <c:txPr>
        <a:bodyPr/>
        <a:lstStyle/>
        <a:p>
          <a:pPr>
            <a:defRPr sz="1000" b="0" u="none" strike="noStrike">
              <a:solidFill>
                <a:srgbClr val="000000"/>
              </a:solidFill>
              <a:uFillTx/>
              <a:latin typeface="Calibri"/>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sz="1300" b="0" u="none" strike="noStrike">
                <a:uFillTx/>
                <a:latin typeface="Arial"/>
              </a:defRPr>
            </a:pPr>
            <a:r>
              <a:rPr lang="en-IN" sz="1800" b="1" u="none" strike="noStrike">
                <a:solidFill>
                  <a:srgbClr val="000000"/>
                </a:solidFill>
                <a:uFillTx/>
                <a:latin typeface="Calibri"/>
              </a:rPr>
              <a:t>Flagged Improvement Areas</a:t>
            </a:r>
          </a:p>
        </c:rich>
      </c:tx>
      <c:overlay val="0"/>
      <c:spPr>
        <a:noFill/>
        <a:ln w="0">
          <a:noFill/>
        </a:ln>
      </c:spPr>
    </c:title>
    <c:autoTitleDeleted val="0"/>
    <c:plotArea>
      <c:layout/>
      <c:barChart>
        <c:barDir val="col"/>
        <c:grouping val="clustered"/>
        <c:varyColors val="0"/>
        <c:ser>
          <c:idx val="0"/>
          <c:order val="0"/>
          <c:tx>
            <c:strRef>
              <c:f>Chart_Data!$K$3</c:f>
              <c:strCache>
                <c:ptCount val="1"/>
                <c:pt idx="0">
                  <c:v>Flagged Faculty</c:v>
                </c:pt>
              </c:strCache>
            </c:strRef>
          </c:tx>
          <c:spPr>
            <a:solidFill>
              <a:srgbClr val="4F81BD"/>
            </a:solidFill>
            <a:ln w="9360">
              <a:solidFill>
                <a:srgbClr val="F9F9F9"/>
              </a:solidFill>
              <a:round/>
            </a:ln>
          </c:spPr>
          <c:invertIfNegative val="0"/>
          <c:dLbls>
            <c:spPr>
              <a:noFill/>
              <a:ln>
                <a:noFill/>
              </a:ln>
              <a:effectLst/>
            </c:spPr>
            <c:txPr>
              <a:bodyPr wrap="none"/>
              <a:lstStyle/>
              <a:p>
                <a:pPr>
                  <a:defRPr sz="1000" b="0" u="none" strike="noStrike">
                    <a:uFillTx/>
                    <a:latin typeface="Arial"/>
                  </a:defRPr>
                </a:pPr>
                <a:endParaRPr lang="en-US"/>
              </a:p>
            </c:txP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15:leaderLines>
                  <c:spPr>
                    <a:ln>
                      <a:solidFill>
                        <a:srgbClr val="F9F9F9"/>
                      </a:solidFill>
                    </a:ln>
                  </c:spPr>
                </c15:leaderLines>
              </c:ext>
            </c:extLst>
          </c:dLbls>
          <c:cat>
            <c:strRef>
              <c:f>Chart_Data!$J$4:$J$8</c:f>
              <c:strCache>
                <c:ptCount val="5"/>
                <c:pt idx="0">
                  <c:v>Attendance</c:v>
                </c:pt>
                <c:pt idx="1">
                  <c:v>Completion</c:v>
                </c:pt>
                <c:pt idx="2">
                  <c:v>Training</c:v>
                </c:pt>
                <c:pt idx="3">
                  <c:v>Performance</c:v>
                </c:pt>
                <c:pt idx="4">
                  <c:v>Workload</c:v>
                </c:pt>
              </c:strCache>
            </c:strRef>
          </c:cat>
          <c:val>
            <c:numRef>
              <c:f>Chart_Data!$K$4:$K$8</c:f>
              <c:numCache>
                <c:formatCode>General</c:formatCode>
                <c:ptCount val="5"/>
                <c:pt idx="0">
                  <c:v>40</c:v>
                </c:pt>
                <c:pt idx="1">
                  <c:v>38</c:v>
                </c:pt>
                <c:pt idx="2">
                  <c:v>36</c:v>
                </c:pt>
                <c:pt idx="3">
                  <c:v>32</c:v>
                </c:pt>
                <c:pt idx="4">
                  <c:v>15</c:v>
                </c:pt>
              </c:numCache>
            </c:numRef>
          </c:val>
          <c:extLst>
            <c:ext xmlns:c16="http://schemas.microsoft.com/office/drawing/2014/chart" uri="{C3380CC4-5D6E-409C-BE32-E72D297353CC}">
              <c16:uniqueId val="{00000000-F7D6-46DC-BAFC-BB8DE0183B5E}"/>
            </c:ext>
          </c:extLst>
        </c:ser>
        <c:dLbls>
          <c:showLegendKey val="0"/>
          <c:showVal val="0"/>
          <c:showCatName val="0"/>
          <c:showSerName val="0"/>
          <c:showPercent val="0"/>
          <c:showBubbleSize val="0"/>
        </c:dLbls>
        <c:gapWidth val="150"/>
        <c:axId val="79934352"/>
        <c:axId val="99199335"/>
      </c:barChart>
      <c:catAx>
        <c:axId val="79934352"/>
        <c:scaling>
          <c:orientation val="minMax"/>
        </c:scaling>
        <c:delete val="0"/>
        <c:axPos val="b"/>
        <c:title>
          <c:tx>
            <c:rich>
              <a:bodyPr rot="0"/>
              <a:lstStyle/>
              <a:p>
                <a:pPr>
                  <a:defRPr sz="1300" b="0" u="none" strike="noStrike">
                    <a:uFillTx/>
                    <a:latin typeface="Arial"/>
                  </a:defRPr>
                </a:pPr>
                <a:r>
                  <a:rPr lang="en-IN" sz="1000" b="1" u="none" strike="noStrike">
                    <a:solidFill>
                      <a:srgbClr val="000000"/>
                    </a:solidFill>
                    <a:uFillTx/>
                    <a:latin typeface="Calibri"/>
                  </a:rPr>
                  <a:t>Focus Area</a:t>
                </a:r>
              </a:p>
            </c:rich>
          </c:tx>
          <c:overlay val="0"/>
          <c:spPr>
            <a:noFill/>
            <a:ln w="0">
              <a:noFill/>
            </a:ln>
          </c:spPr>
        </c:title>
        <c:numFmt formatCode="General"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99199335"/>
        <c:crosses val="autoZero"/>
        <c:auto val="1"/>
        <c:lblAlgn val="ctr"/>
        <c:lblOffset val="100"/>
        <c:noMultiLvlLbl val="0"/>
      </c:catAx>
      <c:valAx>
        <c:axId val="99199335"/>
        <c:scaling>
          <c:orientation val="minMax"/>
        </c:scaling>
        <c:delete val="0"/>
        <c:axPos val="l"/>
        <c:majorGridlines>
          <c:spPr>
            <a:ln w="9360">
              <a:solidFill>
                <a:srgbClr val="878787"/>
              </a:solidFill>
              <a:round/>
            </a:ln>
          </c:spPr>
        </c:majorGridlines>
        <c:title>
          <c:tx>
            <c:rich>
              <a:bodyPr rot="-5400000"/>
              <a:lstStyle/>
              <a:p>
                <a:pPr>
                  <a:defRPr sz="1300" b="0" u="none" strike="noStrike">
                    <a:uFillTx/>
                    <a:latin typeface="Arial"/>
                  </a:defRPr>
                </a:pPr>
                <a:r>
                  <a:rPr lang="en-IN" sz="1000" b="1" u="none" strike="noStrike">
                    <a:solidFill>
                      <a:srgbClr val="000000"/>
                    </a:solidFill>
                    <a:uFillTx/>
                    <a:latin typeface="Calibri"/>
                  </a:rPr>
                  <a:t>Faculty Count</a:t>
                </a:r>
              </a:p>
            </c:rich>
          </c:tx>
          <c:overlay val="0"/>
          <c:spPr>
            <a:noFill/>
            <a:ln w="0">
              <a:noFill/>
            </a:ln>
          </c:spPr>
        </c:title>
        <c:numFmt formatCode="General" sourceLinked="1"/>
        <c:majorTickMark val="none"/>
        <c:minorTickMark val="none"/>
        <c:tickLblPos val="nextTo"/>
        <c:spPr>
          <a:ln w="9360">
            <a:solidFill>
              <a:srgbClr val="878787"/>
            </a:solidFill>
            <a:round/>
          </a:ln>
        </c:spPr>
        <c:txPr>
          <a:bodyPr/>
          <a:lstStyle/>
          <a:p>
            <a:pPr>
              <a:defRPr sz="1000" b="0" u="none" strike="noStrike">
                <a:solidFill>
                  <a:srgbClr val="000000"/>
                </a:solidFill>
                <a:uFillTx/>
                <a:latin typeface="Calibri"/>
              </a:defRPr>
            </a:pPr>
            <a:endParaRPr lang="en-US"/>
          </a:p>
        </c:txPr>
        <c:crossAx val="79934352"/>
        <c:crosses val="autoZero"/>
        <c:crossBetween val="between"/>
      </c:valAx>
      <c:spPr>
        <a:noFill/>
        <a:ln w="0">
          <a:noFill/>
        </a:ln>
      </c:spPr>
    </c:plotArea>
    <c:legend>
      <c:legendPos val="r"/>
      <c:overlay val="0"/>
      <c:spPr>
        <a:noFill/>
        <a:ln w="0">
          <a:noFill/>
        </a:ln>
      </c:spPr>
      <c:txPr>
        <a:bodyPr/>
        <a:lstStyle/>
        <a:p>
          <a:pPr>
            <a:defRPr sz="1000" b="0" u="none" strike="noStrike">
              <a:solidFill>
                <a:srgbClr val="000000"/>
              </a:solidFill>
              <a:uFillTx/>
              <a:latin typeface="Calibri"/>
            </a:defRPr>
          </a:pPr>
          <a:endParaRPr lang="en-US"/>
        </a:p>
      </c:txPr>
    </c:legend>
    <c:plotVisOnly val="1"/>
    <c:dispBlanksAs val="gap"/>
    <c:showDLblsOverMax val="1"/>
  </c:chart>
  <c:spPr>
    <a:solidFill>
      <a:srgbClr val="FFFFFF"/>
    </a:solidFill>
    <a:ln w="9360">
      <a:solidFill>
        <a:srgbClr val="D9D9D9"/>
      </a:solidFill>
      <a:roun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endParaRPr lang="en-US" sz="1400" b="1" spc="583" dirty="0">
                <a:solidFill>
                  <a:srgbClr val="FFFFFF"/>
                </a:solidFill>
                <a:latin typeface="Arial" panose="020B0604020202020204" pitchFamily="34" charset="0"/>
                <a:ea typeface="Aileron Bold"/>
                <a:cs typeface="Arial" panose="020B0604020202020204" pitchFamily="34" charset="0"/>
                <a:sym typeface="Aileron Bold"/>
              </a:endParaRP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689099"/>
          </a:xfrm>
          <a:prstGeom prst="rect">
            <a:avLst/>
          </a:prstGeom>
        </p:spPr>
        <p:txBody>
          <a:bodyPr lIns="0" tIns="0" rIns="0" bIns="0" rtlCol="0" anchor="t">
            <a:spAutoFit/>
          </a:bodyPr>
          <a:lstStyle/>
          <a:p>
            <a:r>
              <a:rPr lang="en-US" sz="1200" b="1" dirty="0"/>
              <a:t>Dr. Namrata Chaturvedi</a:t>
            </a:r>
            <a:endParaRPr lang="en-IN" sz="1200" dirty="0"/>
          </a:p>
          <a:p>
            <a:r>
              <a:rPr lang="en-US" b="1" dirty="0"/>
              <a:t> </a:t>
            </a:r>
            <a:endParaRPr lang="en-IN" dirty="0"/>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483915"/>
          </a:xfrm>
          <a:prstGeom prst="rect">
            <a:avLst/>
          </a:prstGeom>
        </p:spPr>
        <p:txBody>
          <a:bodyPr lIns="0" tIns="0" rIns="0" bIns="0" rtlCol="0" anchor="t">
            <a:spAutoFit/>
          </a:bodyPr>
          <a:lstStyle/>
          <a:p>
            <a:pPr>
              <a:lnSpc>
                <a:spcPts val="2038"/>
              </a:lnSpc>
            </a:pPr>
            <a:r>
              <a:rPr lang="en-US" sz="1200" b="1" dirty="0"/>
              <a:t>namratachaturvedi.mba@itmgoi.in</a:t>
            </a:r>
            <a:endParaRPr lang="en-IN" sz="1200" dirty="0"/>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645499"/>
            <a:chOff x="3139699" y="4295282"/>
            <a:chExt cx="2272871" cy="64549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483915"/>
            </a:xfrm>
            <a:prstGeom prst="rect">
              <a:avLst/>
            </a:prstGeom>
          </p:spPr>
          <p:txBody>
            <a:bodyPr lIns="0" tIns="0" rIns="0" bIns="0" rtlCol="0" anchor="t">
              <a:spAutoFit/>
            </a:bodyPr>
            <a:lstStyle/>
            <a:p>
              <a:pPr>
                <a:lnSpc>
                  <a:spcPts val="2038"/>
                </a:lnSpc>
              </a:pPr>
              <a:r>
                <a:rPr lang="en-US" sz="1200" b="1" dirty="0" err="1"/>
                <a:t>Umamaheswari</a:t>
              </a:r>
              <a:endParaRPr lang="en-IN" dirty="0"/>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E5095599-6142-47D3-1C6A-DA240EEC09D0}"/>
              </a:ext>
            </a:extLst>
          </p:cNvPr>
          <p:cNvSpPr txBox="1"/>
          <p:nvPr/>
        </p:nvSpPr>
        <p:spPr>
          <a:xfrm>
            <a:off x="-102338" y="2965367"/>
            <a:ext cx="4325330" cy="307777"/>
          </a:xfrm>
          <a:prstGeom prst="rect">
            <a:avLst/>
          </a:prstGeom>
          <a:noFill/>
        </p:spPr>
        <p:txBody>
          <a:bodyPr wrap="square">
            <a:spAutoFit/>
          </a:bodyPr>
          <a:lstStyle/>
          <a:p>
            <a:pPr algn="ctr">
              <a:spcBef>
                <a:spcPts val="400"/>
              </a:spcBef>
              <a:spcAft>
                <a:spcPts val="400"/>
              </a:spcAft>
              <a:buNone/>
            </a:pPr>
            <a:r>
              <a:rPr lang="en-IN" sz="1400" b="1" dirty="0">
                <a:effectLst/>
                <a:latin typeface="Times New Roman" panose="02020603050405020304" pitchFamily="18" charset="0"/>
                <a:ea typeface="Arial" panose="020B0604020202020204" pitchFamily="34" charset="0"/>
              </a:rPr>
              <a:t>Student Feedback &amp; Teaching Improvement Analyzer</a:t>
            </a:r>
            <a:endParaRPr lang="en-IN" sz="140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2554545"/>
          </a:xfrm>
          <a:prstGeom prst="rect">
            <a:avLst/>
          </a:prstGeom>
          <a:noFill/>
        </p:spPr>
        <p:txBody>
          <a:bodyPr wrap="square">
            <a:spAutoFit/>
          </a:bodyPr>
          <a:lstStyle/>
          <a:p>
            <a:pPr algn="just"/>
            <a:r>
              <a:rPr lang="en-US" sz="1600" dirty="0"/>
              <a:t>This project focuses on analyzing student feedback data using data analytics and AI tools. The data is cleaned and processed using Microsoft Excel, followed by analysis and visualization through Microsoft Power BI.</a:t>
            </a:r>
          </a:p>
          <a:p>
            <a:pPr algn="just"/>
            <a:r>
              <a:rPr lang="en-US" sz="1600" dirty="0"/>
              <a:t>AI tools like Microsoft Copilot and ChatGPT are used to perform sentiment analysis and generate insights.</a:t>
            </a:r>
          </a:p>
          <a:p>
            <a:pPr algn="just"/>
            <a:r>
              <a:rPr lang="en-US" sz="1600" dirty="0"/>
              <a:t>The project helps identify key trends, evaluate faculty performance, and provide actionable recommendations, enabling data-driven decision-making to improve teaching quality.</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436838"/>
          </a:xfrm>
          <a:prstGeom prst="rect">
            <a:avLst/>
          </a:prstGeom>
          <a:noFill/>
        </p:spPr>
        <p:txBody>
          <a:bodyPr wrap="square">
            <a:spAutoFit/>
          </a:bodyPr>
          <a:lstStyle/>
          <a:p>
            <a:pPr marL="228600" indent="-228600" algn="just">
              <a:spcAft>
                <a:spcPts val="800"/>
              </a:spcAft>
              <a:buFont typeface="Arial" panose="020B0604020202020204" pitchFamily="34" charset="0"/>
              <a:buChar char="•"/>
              <a:tabLst>
                <a:tab pos="4229100" algn="ctr"/>
              </a:tabLst>
            </a:pPr>
            <a:r>
              <a:rPr lang="en-US" sz="1200" dirty="0">
                <a:solidFill>
                  <a:schemeClr val="tx1"/>
                </a:solidFill>
                <a:effectLst/>
                <a:ea typeface="Times New Roman" panose="02020603050405020304" pitchFamily="18" charset="0"/>
                <a:cs typeface="Arial" panose="020B0604020202020204" pitchFamily="34" charset="0"/>
              </a:rPr>
              <a:t>Student feedback is collected regularly in academic institutions after each course or semester. However, this feedback often remains underutilized due to the sheer volume of responses, lack of structured analysis, and absence of a systematic process to extract actionable insights. Faculty and academic coordinators find it difficult to identify patterns, recurring concerns, or areas of teaching improvement from raw, unstructured feedback data.</a:t>
            </a:r>
          </a:p>
          <a:p>
            <a:pPr marL="228600" indent="-228600" algn="just">
              <a:spcAft>
                <a:spcPts val="800"/>
              </a:spcAft>
              <a:buFont typeface="Arial" panose="020B0604020202020204" pitchFamily="34" charset="0"/>
              <a:buChar char="•"/>
              <a:tabLst>
                <a:tab pos="4229100" algn="ctr"/>
              </a:tabLst>
            </a:pPr>
            <a:r>
              <a:rPr lang="en-US" sz="1200" dirty="0">
                <a:solidFill>
                  <a:schemeClr val="tx1"/>
                </a:solidFill>
                <a:effectLst/>
                <a:ea typeface="Times New Roman" panose="02020603050405020304" pitchFamily="18" charset="0"/>
                <a:cs typeface="Arial" panose="020B0604020202020204" pitchFamily="34" charset="0"/>
              </a:rPr>
              <a:t>Additionally, the rise of AI tools such as Microsoft Copilot and AI Chatbots presents a significant opportunity to automate feedback summarization and generate teaching improvement recommendations. However, most faculty lack the prompt engineering skills to leverage these tools effectively.</a:t>
            </a:r>
          </a:p>
          <a:p>
            <a:pPr marL="228600" indent="-228600" algn="just">
              <a:spcAft>
                <a:spcPts val="800"/>
              </a:spcAft>
              <a:buFont typeface="Arial" panose="020B0604020202020204" pitchFamily="34" charset="0"/>
              <a:buChar char="•"/>
              <a:tabLst>
                <a:tab pos="4229100" algn="ctr"/>
              </a:tabLst>
            </a:pPr>
            <a:r>
              <a:rPr lang="en-US" sz="1200" dirty="0">
                <a:solidFill>
                  <a:schemeClr val="tx1"/>
                </a:solidFill>
                <a:effectLst/>
                <a:ea typeface="Times New Roman" panose="02020603050405020304" pitchFamily="18" charset="0"/>
                <a:cs typeface="Arial" panose="020B0604020202020204" pitchFamily="34" charset="0"/>
              </a:rPr>
              <a:t>This project addresses these challenges by applying data cleaning, sentiment analysis, dashboard visualization, and AI-assisted summarization to student feedback data ,enabling faculty to understand their performance and improve teaching quality in a structured, data-driven manner.</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74720"/>
          </a:xfrm>
          <a:prstGeom prst="rect">
            <a:avLst/>
          </a:prstGeom>
          <a:noFill/>
          <a:ln/>
        </p:spPr>
        <p:txBody>
          <a:bodyPr wrap="square" rtlCol="0" anchor="t"/>
          <a:lstStyle/>
          <a:p>
            <a:pPr marL="342900" marR="0" lvl="0" indent="-342900">
              <a:buFont typeface="Arial" panose="020B0604020202020204" pitchFamily="34" charset="0"/>
              <a:buChar char="•"/>
            </a:pPr>
            <a:r>
              <a:rPr lang="en-US" sz="1400" dirty="0">
                <a:solidFill>
                  <a:srgbClr val="1F2937"/>
                </a:solidFill>
                <a:effectLst/>
                <a:latin typeface="Times New Roman" panose="02020603050405020304" pitchFamily="18" charset="0"/>
                <a:ea typeface="Times New Roman" panose="02020603050405020304" pitchFamily="18" charset="0"/>
              </a:rPr>
              <a:t>Collect student feedback data from Excel/CSV sources </a:t>
            </a:r>
            <a:endParaRPr lang="en-US" sz="1400" dirty="0">
              <a:solidFill>
                <a:srgbClr val="1F2937"/>
              </a:solidFill>
              <a:effectLst/>
              <a:latin typeface="Arial" panose="020B0604020202020204" pitchFamily="34" charset="0"/>
              <a:ea typeface="Arial" panose="020B0604020202020204" pitchFamily="34" charset="0"/>
            </a:endParaRPr>
          </a:p>
          <a:p>
            <a:pPr marL="342900" marR="0" lvl="0" indent="-342900">
              <a:buFont typeface="Arial" panose="020B0604020202020204" pitchFamily="34" charset="0"/>
              <a:buChar char="•"/>
            </a:pPr>
            <a:r>
              <a:rPr lang="en-US" sz="1400" dirty="0">
                <a:solidFill>
                  <a:srgbClr val="1F2937"/>
                </a:solidFill>
                <a:effectLst/>
                <a:latin typeface="Times New Roman" panose="02020603050405020304" pitchFamily="18" charset="0"/>
                <a:ea typeface="Times New Roman" panose="02020603050405020304" pitchFamily="18" charset="0"/>
              </a:rPr>
              <a:t>Clean and preprocess data using Microsoft Excel (remove duplicates, handle missing values) </a:t>
            </a:r>
            <a:endParaRPr lang="en-US" sz="1400" dirty="0">
              <a:solidFill>
                <a:srgbClr val="1F2937"/>
              </a:solidFill>
              <a:effectLst/>
              <a:latin typeface="Arial" panose="020B0604020202020204" pitchFamily="34" charset="0"/>
              <a:ea typeface="Arial" panose="020B0604020202020204" pitchFamily="34" charset="0"/>
            </a:endParaRPr>
          </a:p>
          <a:p>
            <a:pPr marL="342900" marR="0" lvl="0" indent="-342900">
              <a:buFont typeface="Arial" panose="020B0604020202020204" pitchFamily="34" charset="0"/>
              <a:buChar char="•"/>
            </a:pPr>
            <a:r>
              <a:rPr lang="en-US" sz="1400" dirty="0">
                <a:solidFill>
                  <a:srgbClr val="1F2937"/>
                </a:solidFill>
                <a:effectLst/>
                <a:latin typeface="Times New Roman" panose="02020603050405020304" pitchFamily="18" charset="0"/>
                <a:ea typeface="Times New Roman" panose="02020603050405020304" pitchFamily="18" charset="0"/>
              </a:rPr>
              <a:t>Analyze data using sentiment analysis, pivot tables, and Microsoft Power BI </a:t>
            </a:r>
            <a:endParaRPr lang="en-US" sz="1400" dirty="0">
              <a:solidFill>
                <a:srgbClr val="1F2937"/>
              </a:solidFill>
              <a:effectLst/>
              <a:latin typeface="Arial" panose="020B0604020202020204" pitchFamily="34" charset="0"/>
              <a:ea typeface="Arial" panose="020B0604020202020204" pitchFamily="34" charset="0"/>
            </a:endParaRPr>
          </a:p>
          <a:p>
            <a:pPr marL="342900" marR="0" lvl="0" indent="-342900">
              <a:buFont typeface="Arial" panose="020B0604020202020204" pitchFamily="34" charset="0"/>
              <a:buChar char="•"/>
            </a:pPr>
            <a:r>
              <a:rPr lang="en-US" sz="1400" dirty="0">
                <a:solidFill>
                  <a:srgbClr val="1F2937"/>
                </a:solidFill>
                <a:effectLst/>
                <a:latin typeface="Times New Roman" panose="02020603050405020304" pitchFamily="18" charset="0"/>
                <a:ea typeface="Times New Roman" panose="02020603050405020304" pitchFamily="18" charset="0"/>
              </a:rPr>
              <a:t>Build interactive dashboards to visualize trends, faculty performance, and key insights </a:t>
            </a:r>
            <a:endParaRPr lang="en-US" sz="1400" dirty="0">
              <a:solidFill>
                <a:srgbClr val="1F2937"/>
              </a:solidFill>
              <a:effectLst/>
              <a:latin typeface="Arial" panose="020B0604020202020204" pitchFamily="34" charset="0"/>
              <a:ea typeface="Arial" panose="020B0604020202020204" pitchFamily="34" charset="0"/>
            </a:endParaRPr>
          </a:p>
          <a:p>
            <a:pPr marL="342900" marR="0" lvl="0" indent="-342900">
              <a:buFont typeface="Arial" panose="020B0604020202020204" pitchFamily="34" charset="0"/>
              <a:buChar char="•"/>
            </a:pPr>
            <a:r>
              <a:rPr lang="en-US" sz="1400" dirty="0">
                <a:solidFill>
                  <a:srgbClr val="1F2937"/>
                </a:solidFill>
                <a:effectLst/>
                <a:latin typeface="Times New Roman" panose="02020603050405020304" pitchFamily="18" charset="0"/>
                <a:ea typeface="Times New Roman" panose="02020603050405020304" pitchFamily="18" charset="0"/>
              </a:rPr>
              <a:t>Integrate AI tools like Microsoft Copilot / ChatGPT for automated summaries and recommendations </a:t>
            </a:r>
            <a:endParaRPr lang="en-US" sz="1400" dirty="0">
              <a:solidFill>
                <a:srgbClr val="1F2937"/>
              </a:solidFill>
              <a:effectLst/>
              <a:latin typeface="Arial" panose="020B0604020202020204" pitchFamily="34" charset="0"/>
              <a:ea typeface="Arial" panose="020B0604020202020204" pitchFamily="34" charset="0"/>
            </a:endParaRPr>
          </a:p>
          <a:p>
            <a:pPr marL="342900" marR="0" lvl="0" indent="-342900">
              <a:spcBef>
                <a:spcPts val="300"/>
              </a:spcBef>
              <a:spcAft>
                <a:spcPts val="300"/>
              </a:spcAft>
              <a:buFont typeface="Arial" panose="020B0604020202020204" pitchFamily="34" charset="0"/>
              <a:buChar char="•"/>
            </a:pPr>
            <a:r>
              <a:rPr lang="en-US" sz="1400" dirty="0">
                <a:solidFill>
                  <a:srgbClr val="1F2937"/>
                </a:solidFill>
                <a:effectLst/>
                <a:latin typeface="Times New Roman" panose="02020603050405020304" pitchFamily="18" charset="0"/>
                <a:ea typeface="Times New Roman" panose="02020603050405020304" pitchFamily="18" charset="0"/>
              </a:rPr>
              <a:t>Enable data-driven decision-making to improve teaching quality and student experience</a:t>
            </a:r>
            <a:endParaRPr lang="en-US" sz="1400" dirty="0">
              <a:solidFill>
                <a:srgbClr val="1F2937"/>
              </a:solidFill>
              <a:effectLst/>
              <a:latin typeface="Arial" panose="020B0604020202020204" pitchFamily="34" charset="0"/>
              <a:ea typeface="Arial" panose="020B0604020202020204" pitchFamily="34" charset="0"/>
            </a:endParaRPr>
          </a:p>
        </p:txBody>
      </p:sp>
      <p:pic>
        <p:nvPicPr>
          <p:cNvPr id="6" name="Picture 5">
            <a:extLst>
              <a:ext uri="{FF2B5EF4-FFF2-40B4-BE49-F238E27FC236}">
                <a16:creationId xmlns:a16="http://schemas.microsoft.com/office/drawing/2014/main" id="{CDCB8D12-5CAE-CA9E-2C90-40F9E55BCC9B}"/>
              </a:ext>
            </a:extLst>
          </p:cNvPr>
          <p:cNvPicPr>
            <a:picLocks noChangeAspect="1"/>
          </p:cNvPicPr>
          <p:nvPr/>
        </p:nvPicPr>
        <p:blipFill>
          <a:blip r:embed="rId5"/>
          <a:srcRect t="35729" b="36236"/>
          <a:stretch>
            <a:fillRect/>
          </a:stretch>
        </p:blipFill>
        <p:spPr>
          <a:xfrm>
            <a:off x="515083" y="3595349"/>
            <a:ext cx="7715250" cy="1441968"/>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1600" dirty="0"/>
              <a:t>Student feedback dataset (Excel/CSV) </a:t>
            </a:r>
          </a:p>
          <a:p>
            <a:pPr marL="285750" indent="-285750">
              <a:buFont typeface="Arial" panose="020B0604020202020204" pitchFamily="34" charset="0"/>
              <a:buChar char="•"/>
            </a:pPr>
            <a:r>
              <a:rPr lang="en-US" sz="1600" dirty="0"/>
              <a:t>Faculty details and performance data </a:t>
            </a:r>
          </a:p>
          <a:p>
            <a:pPr marL="285750" indent="-285750">
              <a:buFont typeface="Arial" panose="020B0604020202020204" pitchFamily="34" charset="0"/>
              <a:buChar char="•"/>
            </a:pPr>
            <a:r>
              <a:rPr lang="en-US" sz="1600" dirty="0"/>
              <a:t>Collected from academic records or surveys </a:t>
            </a: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627248"/>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1600" dirty="0"/>
              <a:t>Data cleaning (remove duplicates, handle missing values) using Microsoft Excel</a:t>
            </a:r>
          </a:p>
          <a:p>
            <a:pPr marL="285750" indent="-285750">
              <a:buFont typeface="Arial" panose="020B0604020202020204" pitchFamily="34" charset="0"/>
              <a:buChar char="•"/>
            </a:pPr>
            <a:r>
              <a:rPr lang="en-US" sz="1600" dirty="0"/>
              <a:t>Data transformation and analysis using pivot tables and measures</a:t>
            </a:r>
          </a:p>
          <a:p>
            <a:pPr marL="285750" indent="-285750">
              <a:buFont typeface="Arial" panose="020B0604020202020204" pitchFamily="34" charset="0"/>
              <a:buChar char="•"/>
            </a:pPr>
            <a:r>
              <a:rPr lang="en-US" sz="1600" dirty="0"/>
              <a:t>Sentiment analysis on feedback comments</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1600" dirty="0"/>
              <a:t>Use Microsoft Copilot for automated insights</a:t>
            </a:r>
          </a:p>
          <a:p>
            <a:pPr marL="285750" indent="-285750">
              <a:buFont typeface="Arial" panose="020B0604020202020204" pitchFamily="34" charset="0"/>
              <a:buChar char="•"/>
            </a:pPr>
            <a:r>
              <a:rPr lang="en-US" sz="1600" dirty="0"/>
              <a:t>Use ChatGPT for summarization and recommendations</a:t>
            </a:r>
          </a:p>
          <a:p>
            <a:pPr marL="285750" indent="-285750">
              <a:buFont typeface="Arial" panose="020B0604020202020204" pitchFamily="34" charset="0"/>
              <a:buChar char="•"/>
            </a:pPr>
            <a:r>
              <a:rPr lang="en-US" sz="1600" dirty="0"/>
              <a:t>NLP techniques for text analysis</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buFont typeface="Arial" panose="020B0604020202020204" pitchFamily="34" charset="0"/>
              <a:buChar char="•"/>
            </a:pPr>
            <a:r>
              <a:rPr lang="en-US" sz="1600" dirty="0"/>
              <a:t>Interactive dashboards using Microsoft Power BI</a:t>
            </a:r>
          </a:p>
          <a:p>
            <a:pPr marL="285750" indent="-285750">
              <a:buFont typeface="Arial" panose="020B0604020202020204" pitchFamily="34" charset="0"/>
              <a:buChar char="•"/>
            </a:pPr>
            <a:r>
              <a:rPr lang="en-US" sz="1600" dirty="0"/>
              <a:t>Faculty performance insights</a:t>
            </a:r>
          </a:p>
          <a:p>
            <a:pPr marL="285750" indent="-285750">
              <a:buFont typeface="Arial" panose="020B0604020202020204" pitchFamily="34" charset="0"/>
              <a:buChar char="•"/>
            </a:pPr>
            <a:r>
              <a:rPr lang="en-US" sz="1600" dirty="0"/>
              <a:t>Feedback trends and actionable recommendations</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5FC9EA-9BC4-9B21-6282-C03D5CE49FE0}"/>
              </a:ext>
            </a:extLst>
          </p:cNvPr>
          <p:cNvPicPr>
            <a:picLocks noChangeAspect="1"/>
          </p:cNvPicPr>
          <p:nvPr/>
        </p:nvPicPr>
        <p:blipFill>
          <a:blip r:embed="rId2"/>
          <a:stretch>
            <a:fillRect/>
          </a:stretch>
        </p:blipFill>
        <p:spPr>
          <a:xfrm>
            <a:off x="320040" y="716280"/>
            <a:ext cx="8237219" cy="3982829"/>
          </a:xfrm>
          <a:prstGeom prst="rect">
            <a:avLst/>
          </a:prstGeom>
        </p:spPr>
      </p:pic>
    </p:spTree>
    <p:extLst>
      <p:ext uri="{BB962C8B-B14F-4D97-AF65-F5344CB8AC3E}">
        <p14:creationId xmlns:p14="http://schemas.microsoft.com/office/powerpoint/2010/main" val="2642337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285750" indent="-285750">
              <a:buFont typeface="Arial" panose="020B0604020202020204" pitchFamily="34" charset="0"/>
              <a:buChar char="•"/>
            </a:pPr>
            <a:r>
              <a:rPr lang="en-US" sz="1600" dirty="0"/>
              <a:t>Successfully analyzed student feedback using data analytics and AI tools </a:t>
            </a:r>
          </a:p>
          <a:p>
            <a:pPr marL="285750" indent="-285750">
              <a:buFont typeface="Arial" panose="020B0604020202020204" pitchFamily="34" charset="0"/>
              <a:buChar char="•"/>
            </a:pPr>
            <a:r>
              <a:rPr lang="en-US" sz="1600" dirty="0"/>
              <a:t>Data cleaning and processing improved accuracy and reliability of insights </a:t>
            </a:r>
          </a:p>
          <a:p>
            <a:pPr marL="285750" indent="-285750">
              <a:buFont typeface="Arial" panose="020B0604020202020204" pitchFamily="34" charset="0"/>
              <a:buChar char="•"/>
            </a:pPr>
            <a:r>
              <a:rPr lang="en-US" sz="1600" dirty="0"/>
              <a:t>Interactive dashboards in Microsoft Power BI enabled clear visualization of trends and faculty performance </a:t>
            </a:r>
          </a:p>
          <a:p>
            <a:pPr marL="285750" indent="-285750">
              <a:buFont typeface="Arial" panose="020B0604020202020204" pitchFamily="34" charset="0"/>
              <a:buChar char="•"/>
            </a:pPr>
            <a:r>
              <a:rPr lang="en-US" sz="1600" dirty="0"/>
              <a:t>AI tools like Microsoft Copilot and ChatGPT enhanced analysis through automated insights and recommendations </a:t>
            </a:r>
          </a:p>
          <a:p>
            <a:pPr marL="285750" indent="-285750">
              <a:buFont typeface="Arial" panose="020B0604020202020204" pitchFamily="34" charset="0"/>
              <a:buChar char="•"/>
            </a:pPr>
            <a:r>
              <a:rPr lang="en-US" sz="1600" dirty="0"/>
              <a:t>The project supports data-driven decision-making to improve teaching quality and student experience </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2" name="TextBox 1">
            <a:extLst>
              <a:ext uri="{FF2B5EF4-FFF2-40B4-BE49-F238E27FC236}">
                <a16:creationId xmlns:a16="http://schemas.microsoft.com/office/drawing/2014/main" id="{131ED566-40D5-CFF7-FAB4-5A25A8CFE21F}"/>
              </a:ext>
            </a:extLst>
          </p:cNvPr>
          <p:cNvSpPr txBox="1"/>
          <p:nvPr/>
        </p:nvSpPr>
        <p:spPr>
          <a:xfrm>
            <a:off x="218092" y="4526614"/>
            <a:ext cx="8800422" cy="369332"/>
          </a:xfrm>
          <a:prstGeom prst="rect">
            <a:avLst/>
          </a:prstGeom>
          <a:noFill/>
        </p:spPr>
        <p:txBody>
          <a:bodyPr wrap="none" rtlCol="0">
            <a:spAutoFit/>
          </a:bodyPr>
          <a:lstStyle/>
          <a:p>
            <a:r>
              <a:rPr lang="en-US" b="1" dirty="0">
                <a:solidFill>
                  <a:schemeClr val="accent1"/>
                </a:solidFill>
              </a:rPr>
              <a:t>“Combining Data Analytics with AI leads to smarter and faster academic decision-making.”</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4207229878"/>
              </p:ext>
            </p:extLst>
          </p:nvPr>
        </p:nvGraphicFramePr>
        <p:xfrm>
          <a:off x="495300" y="739140"/>
          <a:ext cx="2537460" cy="33756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00000000-0008-0000-0100-000006000000}"/>
              </a:ext>
            </a:extLst>
          </p:cNvPr>
          <p:cNvGraphicFramePr>
            <a:graphicFrameLocks/>
          </p:cNvGraphicFramePr>
          <p:nvPr>
            <p:extLst>
              <p:ext uri="{D42A27DB-BD31-4B8C-83A1-F6EECF244321}">
                <p14:modId xmlns:p14="http://schemas.microsoft.com/office/powerpoint/2010/main" val="1978452516"/>
              </p:ext>
            </p:extLst>
          </p:nvPr>
        </p:nvGraphicFramePr>
        <p:xfrm>
          <a:off x="3322320" y="739140"/>
          <a:ext cx="2590800" cy="3375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00000000-0008-0000-0000-000003000000}"/>
              </a:ext>
            </a:extLst>
          </p:cNvPr>
          <p:cNvGraphicFramePr>
            <a:graphicFrameLocks/>
          </p:cNvGraphicFramePr>
          <p:nvPr>
            <p:extLst>
              <p:ext uri="{D42A27DB-BD31-4B8C-83A1-F6EECF244321}">
                <p14:modId xmlns:p14="http://schemas.microsoft.com/office/powerpoint/2010/main" val="2810035212"/>
              </p:ext>
            </p:extLst>
          </p:nvPr>
        </p:nvGraphicFramePr>
        <p:xfrm>
          <a:off x="6248400" y="739140"/>
          <a:ext cx="2537460" cy="33756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52473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0000000-0008-0000-0100-000008000000}"/>
              </a:ext>
            </a:extLst>
          </p:cNvPr>
          <p:cNvGraphicFramePr>
            <a:graphicFrameLocks/>
          </p:cNvGraphicFramePr>
          <p:nvPr>
            <p:extLst>
              <p:ext uri="{D42A27DB-BD31-4B8C-83A1-F6EECF244321}">
                <p14:modId xmlns:p14="http://schemas.microsoft.com/office/powerpoint/2010/main" val="2348711151"/>
              </p:ext>
            </p:extLst>
          </p:nvPr>
        </p:nvGraphicFramePr>
        <p:xfrm>
          <a:off x="396242" y="1174740"/>
          <a:ext cx="2529838" cy="31991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00000000-0008-0000-0100-000007000000}"/>
              </a:ext>
            </a:extLst>
          </p:cNvPr>
          <p:cNvGraphicFramePr>
            <a:graphicFrameLocks/>
          </p:cNvGraphicFramePr>
          <p:nvPr>
            <p:extLst>
              <p:ext uri="{D42A27DB-BD31-4B8C-83A1-F6EECF244321}">
                <p14:modId xmlns:p14="http://schemas.microsoft.com/office/powerpoint/2010/main" val="1942747759"/>
              </p:ext>
            </p:extLst>
          </p:nvPr>
        </p:nvGraphicFramePr>
        <p:xfrm>
          <a:off x="3048000" y="1174740"/>
          <a:ext cx="2438400" cy="31991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00000000-0008-0000-0000-000005000000}"/>
              </a:ext>
            </a:extLst>
          </p:cNvPr>
          <p:cNvGraphicFramePr>
            <a:graphicFrameLocks/>
          </p:cNvGraphicFramePr>
          <p:nvPr>
            <p:extLst>
              <p:ext uri="{D42A27DB-BD31-4B8C-83A1-F6EECF244321}">
                <p14:modId xmlns:p14="http://schemas.microsoft.com/office/powerpoint/2010/main" val="3045775636"/>
              </p:ext>
            </p:extLst>
          </p:nvPr>
        </p:nvGraphicFramePr>
        <p:xfrm>
          <a:off x="5768340" y="1174740"/>
          <a:ext cx="2735580" cy="319914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58773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694938" cy="3474720"/>
          </a:xfrm>
          <a:prstGeom prst="rect">
            <a:avLst/>
          </a:prstGeom>
          <a:noFill/>
          <a:ln/>
        </p:spPr>
        <p:txBody>
          <a:bodyPr wrap="square" rtlCol="0" anchor="t"/>
          <a:lstStyle/>
          <a:p>
            <a:pPr marL="285750" indent="-285750">
              <a:buFont typeface="Arial" panose="020B0604020202020204" pitchFamily="34" charset="0"/>
              <a:buChar char="•"/>
            </a:pPr>
            <a:r>
              <a:rPr lang="en-US" sz="1600" dirty="0"/>
              <a:t>Integrate real-time data collection using APIs or automation tools (e.g., Power Automate) </a:t>
            </a:r>
          </a:p>
          <a:p>
            <a:pPr marL="285750" indent="-285750">
              <a:buFont typeface="Arial" panose="020B0604020202020204" pitchFamily="34" charset="0"/>
              <a:buChar char="•"/>
            </a:pPr>
            <a:r>
              <a:rPr lang="en-US" sz="1600" dirty="0"/>
              <a:t>Apply advanced machine learning models for prediction and trend forecasting </a:t>
            </a:r>
          </a:p>
          <a:p>
            <a:pPr marL="285750" indent="-285750">
              <a:buFont typeface="Arial" panose="020B0604020202020204" pitchFamily="34" charset="0"/>
              <a:buChar char="•"/>
            </a:pPr>
            <a:r>
              <a:rPr lang="en-US" sz="1600" dirty="0"/>
              <a:t>Develop a web or mobile-based interface for easy access by students and faculty </a:t>
            </a:r>
          </a:p>
          <a:p>
            <a:pPr marL="285750" indent="-285750">
              <a:buFont typeface="Arial" panose="020B0604020202020204" pitchFamily="34" charset="0"/>
              <a:buChar char="•"/>
            </a:pPr>
            <a:r>
              <a:rPr lang="en-US" sz="1600" dirty="0"/>
              <a:t>Expand dataset across multiple institutions for broader analysis </a:t>
            </a:r>
          </a:p>
          <a:p>
            <a:pPr marL="285750" indent="-285750">
              <a:buFont typeface="Arial" panose="020B0604020202020204" pitchFamily="34" charset="0"/>
              <a:buChar char="•"/>
            </a:pPr>
            <a:r>
              <a:rPr lang="en-US" sz="1600" dirty="0"/>
              <a:t>Enhance AI capabilities using Microsoft Copilot and ChatGPT for smarter recommendations </a:t>
            </a:r>
          </a:p>
          <a:p>
            <a:pPr marL="285750" indent="-285750">
              <a:buFont typeface="Arial" panose="020B0604020202020204" pitchFamily="34" charset="0"/>
              <a:buChar char="•"/>
            </a:pPr>
            <a:r>
              <a:rPr lang="en-US" sz="1600" dirty="0"/>
              <a:t>Create automated alerts and performance tracking systems </a:t>
            </a:r>
          </a:p>
          <a:p>
            <a:pPr marL="285750" indent="-285750">
              <a:buFont typeface="Arial" panose="020B0604020202020204" pitchFamily="34" charset="0"/>
              <a:buChar char="•"/>
            </a:pPr>
            <a:r>
              <a:rPr lang="en-US" sz="1600" dirty="0"/>
              <a:t>Build a standardized framework for feedback analysis in education </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694</Words>
  <Application>Microsoft Office PowerPoint</Application>
  <PresentationFormat>On-screen Show (16:9)</PresentationFormat>
  <Paragraphs>96</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Ms. Namrata Chaturvedi</cp:lastModifiedBy>
  <cp:revision>33</cp:revision>
  <dcterms:created xsi:type="dcterms:W3CDTF">2026-02-18T09:17:23Z</dcterms:created>
  <dcterms:modified xsi:type="dcterms:W3CDTF">2026-04-15T08:04:08Z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